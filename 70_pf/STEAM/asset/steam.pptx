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64" r:id="rId5"/>
    <p:sldId id="262" r:id="rId6"/>
    <p:sldId id="259" r:id="rId7"/>
    <p:sldId id="268" r:id="rId8"/>
    <p:sldId id="270" r:id="rId9"/>
    <p:sldId id="266" r:id="rId10"/>
    <p:sldId id="267" r:id="rId11"/>
    <p:sldId id="269" r:id="rId12"/>
    <p:sldId id="260" r:id="rId13"/>
    <p:sldId id="261" r:id="rId14"/>
    <p:sldId id="263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 snapToObjects="1">
      <p:cViewPr varScale="1">
        <p:scale>
          <a:sx n="100" d="100"/>
          <a:sy n="100" d="100"/>
        </p:scale>
        <p:origin x="-1092" y="-90"/>
      </p:cViewPr>
      <p:guideLst>
        <p:guide orient="horz" pos="2155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2.xml.rels><?xml version="1.0" encoding="UTF-8" standalone="yes" ?><Relationships xmlns="http://schemas.openxmlformats.org/package/2006/relationships"><Relationship Id="rId10" Type="http://schemas.openxmlformats.org/officeDocument/2006/relationships/slideLayout" Target="../slideLayouts/slideLayout7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Relationship Id="rId8" Type="http://schemas.openxmlformats.org/officeDocument/2006/relationships/image" Target="../media/image12.png"  /><Relationship Id="rId9" Type="http://schemas.openxmlformats.org/officeDocument/2006/relationships/image" Target="../media/image1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1.png"  /><Relationship Id="rId11" Type="http://schemas.openxmlformats.org/officeDocument/2006/relationships/image" Target="../media/image18.png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Relationship Id="rId6" Type="http://schemas.openxmlformats.org/officeDocument/2006/relationships/image" Target="../media/image18.png"  /><Relationship Id="rId7" Type="http://schemas.openxmlformats.org/officeDocument/2006/relationships/image" Target="../media/image16.png"  /><Relationship Id="rId8" Type="http://schemas.openxmlformats.org/officeDocument/2006/relationships/image" Target="../media/image19.png"  /><Relationship Id="rId9" Type="http://schemas.openxmlformats.org/officeDocument/2006/relationships/image" Target="../media/image20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Relationship Id="rId4" Type="http://schemas.openxmlformats.org/officeDocument/2006/relationships/image" Target="../media/image20.png"  /><Relationship Id="rId5" Type="http://schemas.openxmlformats.org/officeDocument/2006/relationships/image" Target="../media/image2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8.png"  /><Relationship Id="rId11" Type="http://schemas.openxmlformats.org/officeDocument/2006/relationships/image" Target="../media/image16.png"  /><Relationship Id="rId12" Type="http://schemas.openxmlformats.org/officeDocument/2006/relationships/image" Target="../media/image17.png"  /><Relationship Id="rId13" Type="http://schemas.openxmlformats.org/officeDocument/2006/relationships/image" Target="../media/image18.png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Relationship Id="rId6" Type="http://schemas.openxmlformats.org/officeDocument/2006/relationships/image" Target="../media/image18.png"  /><Relationship Id="rId7" Type="http://schemas.openxmlformats.org/officeDocument/2006/relationships/image" Target="../media/image16.png"  /><Relationship Id="rId8" Type="http://schemas.openxmlformats.org/officeDocument/2006/relationships/image" Target="../media/image19.png"  /><Relationship Id="rId9" Type="http://schemas.openxmlformats.org/officeDocument/2006/relationships/image" Target="../media/image2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2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27.jpeg"  /><Relationship Id="rId6" Type="http://schemas.openxmlformats.org/officeDocument/2006/relationships/image" Target="../media/image28.jpeg"  /><Relationship Id="rId7" Type="http://schemas.openxmlformats.org/officeDocument/2006/relationships/image" Target="../media/image29.jpe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30.jpeg"  /><Relationship Id="rId6" Type="http://schemas.openxmlformats.org/officeDocument/2006/relationships/image" Target="../media/image31.jpeg"  /><Relationship Id="rId7" Type="http://schemas.openxmlformats.org/officeDocument/2006/relationships/image" Target="../media/image32.jpe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33.jpeg"  /><Relationship Id="rId6" Type="http://schemas.openxmlformats.org/officeDocument/2006/relationships/image" Target="../media/image34.jpeg"  /><Relationship Id="rId7" Type="http://schemas.openxmlformats.org/officeDocument/2006/relationships/image" Target="../media/image35.jpeg"  /><Relationship Id="rId8" Type="http://schemas.openxmlformats.org/officeDocument/2006/relationships/image" Target="../media/image36.jpe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3.png"  /><Relationship Id="rId2" Type="http://schemas.openxmlformats.org/officeDocument/2006/relationships/image" Target="../media/image37.png"  /><Relationship Id="rId3" Type="http://schemas.openxmlformats.org/officeDocument/2006/relationships/image" Target="../media/image38.png"  /><Relationship Id="rId4" Type="http://schemas.openxmlformats.org/officeDocument/2006/relationships/image" Target="../media/image39.png"  /><Relationship Id="rId5" Type="http://schemas.openxmlformats.org/officeDocument/2006/relationships/image" Target="../media/image40.png"  /><Relationship Id="rId6" Type="http://schemas.openxmlformats.org/officeDocument/2006/relationships/image" Target="../media/image41.png"  /><Relationship Id="rId7" Type="http://schemas.openxmlformats.org/officeDocument/2006/relationships/image" Target="../media/image42.png"  /><Relationship Id="rId8" Type="http://schemas.openxmlformats.org/officeDocument/2006/relationships/image" Target="../media/image42.png"  /><Relationship Id="rId9" Type="http://schemas.openxmlformats.org/officeDocument/2006/relationships/image" Target="../media/image4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Relationship Id="rId4" Type="http://schemas.openxmlformats.org/officeDocument/2006/relationships/image" Target="../media/image46.png"  /><Relationship Id="rId5" Type="http://schemas.openxmlformats.org/officeDocument/2006/relationships/image" Target="../media/image47.png"  /><Relationship Id="rId6" Type="http://schemas.openxmlformats.org/officeDocument/2006/relationships/image" Target="../media/image25.png"  /><Relationship Id="rId7" Type="http://schemas.openxmlformats.org/officeDocument/2006/relationships/image" Target="../media/image48.png"  /><Relationship Id="rId8" Type="http://schemas.openxmlformats.org/officeDocument/2006/relationships/image" Target="../media/image48.png"  /><Relationship Id="rId9" Type="http://schemas.openxmlformats.org/officeDocument/2006/relationships/image" Target="../media/image4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8.png"  /><Relationship Id="rId11" Type="http://schemas.openxmlformats.org/officeDocument/2006/relationships/image" Target="../media/image16.png"  /><Relationship Id="rId12" Type="http://schemas.openxmlformats.org/officeDocument/2006/relationships/image" Target="../media/image17.png"  /><Relationship Id="rId13" Type="http://schemas.openxmlformats.org/officeDocument/2006/relationships/image" Target="../media/image18.png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Relationship Id="rId6" Type="http://schemas.openxmlformats.org/officeDocument/2006/relationships/image" Target="../media/image18.png"  /><Relationship Id="rId7" Type="http://schemas.openxmlformats.org/officeDocument/2006/relationships/image" Target="../media/image16.png"  /><Relationship Id="rId8" Type="http://schemas.openxmlformats.org/officeDocument/2006/relationships/image" Target="../media/image19.png"  /><Relationship Id="rId9" Type="http://schemas.openxmlformats.org/officeDocument/2006/relationships/image" Target="../media/image25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400300" y="0"/>
            <a:ext cx="122809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811500" y="-381000"/>
            <a:ext cx="2882900" cy="1930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366500" y="2451100"/>
            <a:ext cx="530860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700" b="0" i="0" u="none" strike="noStrike" spc="300">
                <a:solidFill>
                  <a:srgbClr val="9e9e9e"/>
                </a:solidFill>
                <a:latin typeface="Pretendard Medium"/>
              </a:rPr>
              <a:t>UI/UX </a:t>
            </a:r>
            <a:r>
              <a:rPr lang="ko-KR" sz="2700" b="0" i="0" u="none" strike="noStrike" spc="300">
                <a:solidFill>
                  <a:srgbClr val="9e9e9e"/>
                </a:solidFill>
                <a:ea typeface="Pretendard Medium"/>
              </a:rPr>
              <a:t>웹</a:t>
            </a:r>
            <a:r>
              <a:rPr lang="en-US" sz="2700" b="0" i="0" u="none" strike="noStrike" spc="3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2700" b="0" i="0" u="none" strike="noStrike" spc="300">
                <a:solidFill>
                  <a:srgbClr val="9e9e9e"/>
                </a:solidFill>
                <a:ea typeface="Pretendard Medium"/>
              </a:rPr>
              <a:t>디자인</a:t>
            </a:r>
            <a:r>
              <a:rPr lang="en-US" sz="2700" b="0" i="0" u="none" strike="noStrike" spc="300">
                <a:solidFill>
                  <a:srgbClr val="9e9e9e"/>
                </a:solidFill>
                <a:latin typeface="Pretendard Medium"/>
              </a:rPr>
              <a:t> </a:t>
            </a:r>
            <a:r>
              <a:rPr lang="ko-KR" sz="2700" b="0" i="0" u="none" strike="noStrike" spc="300">
                <a:solidFill>
                  <a:srgbClr val="9e9e9e"/>
                </a:solidFill>
                <a:ea typeface="Pretendard Medium"/>
              </a:rPr>
              <a:t>리퍼블리싱</a:t>
            </a:r>
            <a:endParaRPr lang="ko-KR" sz="2700" b="0" i="0" u="none" strike="noStrike" spc="300">
              <a:solidFill>
                <a:srgbClr val="9e9e9e"/>
              </a:solidFill>
              <a:ea typeface="Pretendard Mediu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366500" y="9055100"/>
            <a:ext cx="54102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Pretendard SemiBold"/>
              </a:rPr>
              <a:t>2</a:t>
            </a:r>
            <a:r>
              <a:rPr lang="ko-KR" sz="2000" b="0" i="0" u="none" strike="noStrike">
                <a:solidFill>
                  <a:srgbClr val="333333"/>
                </a:solidFill>
                <a:ea typeface="Pretendard SemiBold"/>
              </a:rPr>
              <a:t>팀</a:t>
            </a:r>
            <a:r>
              <a:rPr lang="en-US" sz="2000" b="0" i="0" u="none" strike="noStrike">
                <a:solidFill>
                  <a:srgbClr val="333333"/>
                </a:solidFill>
                <a:latin typeface="Pretendard SemiBold"/>
              </a:rPr>
              <a:t>: </a:t>
            </a:r>
            <a:r>
              <a:rPr lang="ko-KR" sz="2000" b="0" i="0" u="none" strike="noStrike">
                <a:solidFill>
                  <a:srgbClr val="333333"/>
                </a:solidFill>
                <a:ea typeface="Pretendard SemiBold"/>
              </a:rPr>
              <a:t>김다영</a:t>
            </a:r>
            <a:r>
              <a:rPr lang="en-US" sz="2000" b="0" i="0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0" i="0" u="none" strike="noStrike">
                <a:solidFill>
                  <a:srgbClr val="333333"/>
                </a:solidFill>
                <a:ea typeface="Pretendard SemiBold"/>
              </a:rPr>
              <a:t>박채영</a:t>
            </a:r>
            <a:r>
              <a:rPr lang="en-US" sz="2000" b="0" i="0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0" i="0" u="none" strike="noStrike">
                <a:solidFill>
                  <a:srgbClr val="333333"/>
                </a:solidFill>
                <a:ea typeface="Pretendard SemiBold"/>
              </a:rPr>
              <a:t>양하늘</a:t>
            </a:r>
            <a:r>
              <a:rPr lang="en-US" sz="2000" b="0" i="0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0" i="0" u="none" strike="noStrike">
                <a:solidFill>
                  <a:srgbClr val="333333"/>
                </a:solidFill>
                <a:ea typeface="Pretendard SemiBold"/>
              </a:rPr>
              <a:t>이영민</a:t>
            </a:r>
            <a:r>
              <a:rPr lang="en-US" sz="2000" b="0" i="0" u="none" strike="noStrike">
                <a:solidFill>
                  <a:srgbClr val="333333"/>
                </a:solidFill>
                <a:latin typeface="Pretendard SemiBold"/>
              </a:rPr>
              <a:t>, </a:t>
            </a:r>
            <a:r>
              <a:rPr lang="ko-KR" sz="2000" b="0" i="0" u="none" strike="noStrike">
                <a:solidFill>
                  <a:srgbClr val="333333"/>
                </a:solidFill>
                <a:ea typeface="Pretendard SemiBold"/>
              </a:rPr>
              <a:t>최준혁</a:t>
            </a:r>
            <a:endParaRPr lang="ko-KR" sz="2000" b="0" i="0" u="none" strike="noStrike">
              <a:solidFill>
                <a:srgbClr val="333333"/>
              </a:solidFill>
              <a:ea typeface="Pretendard Semi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94500" y="3009900"/>
            <a:ext cx="10058400" cy="1943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84660"/>
              </a:lnSpc>
              <a:defRPr/>
            </a:pPr>
            <a:r>
              <a:rPr lang="en-US" sz="10900" b="0" i="0" u="none" strike="noStrike">
                <a:solidFill>
                  <a:srgbClr val="333333"/>
                </a:solidFill>
                <a:latin typeface="Pretendard Regular"/>
              </a:rPr>
              <a:t>2</a:t>
            </a:r>
            <a:r>
              <a:rPr lang="ko-KR" sz="10900" b="0" i="0" u="none" strike="noStrike">
                <a:solidFill>
                  <a:srgbClr val="333333"/>
                </a:solidFill>
                <a:ea typeface="Pretendard Regular"/>
              </a:rPr>
              <a:t>팀</a:t>
            </a:r>
            <a:endParaRPr lang="ko-KR" sz="10900" b="0" i="0" u="none" strike="noStrike">
              <a:solidFill>
                <a:srgbClr val="333333"/>
              </a:solidFill>
              <a:ea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2616200"/>
            <a:ext cx="6819900" cy="769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-558800" y="3136900"/>
            <a:ext cx="1943100" cy="850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>
            <a:alphaModFix amt="65000"/>
          </a:blip>
          <a:stretch>
            <a:fillRect/>
          </a:stretch>
        </p:blipFill>
        <p:spPr>
          <a:xfrm>
            <a:off x="11366500" y="5791200"/>
            <a:ext cx="6172200" cy="5715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794500" y="4889500"/>
            <a:ext cx="10058400" cy="14224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84660"/>
              </a:lnSpc>
              <a:defRPr/>
            </a:pPr>
            <a:r>
              <a:rPr lang="en-US" sz="10900" b="0" i="0" u="none" strike="noStrike">
                <a:solidFill>
                  <a:srgbClr val="333333"/>
                </a:solidFill>
                <a:latin typeface="Pretendard Bold"/>
              </a:rPr>
              <a:t>STEAM</a:t>
            </a:r>
            <a:endParaRPr lang="en-US" sz="10900" b="0" i="0" u="none" strike="noStrike">
              <a:solidFill>
                <a:srgbClr val="333333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96900" y="4064000"/>
            <a:ext cx="5524500" cy="6235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2700" y="0"/>
            <a:ext cx="1524000" cy="10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776700" y="8724900"/>
            <a:ext cx="1663700" cy="1663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06400" y="9728200"/>
            <a:ext cx="1955800" cy="127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06400" y="9893300"/>
            <a:ext cx="977900" cy="50800"/>
          </a:xfrm>
          <a:prstGeom prst="rect">
            <a:avLst/>
          </a:prstGeom>
        </p:spPr>
      </p:pic>
      <p:sp>
        <p:nvSpPr>
          <p:cNvPr id="7" name="TextBox 7"/>
          <p:cNvSpPr txBox="true"/>
          <p:nvPr/>
        </p:nvSpPr>
        <p:spPr>
          <a:xfrm rot="0">
            <a:off x="1778000" y="1282700"/>
            <a:ext cx="16002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B7C5CA"/>
                </a:solidFill>
                <a:latin typeface="Pretendard Medium"/>
              </a:rPr>
              <a:t>CONTENTS</a:t>
            </a:r>
          </a:p>
        </p:txBody>
      </p:sp>
      <p:pic>
        <p:nvPicPr>
          <p:cNvPr id="8" name="Picture 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700000">
            <a:off x="14427200" y="-1130300"/>
            <a:ext cx="6172200" cy="411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2844800"/>
            <a:ext cx="596900" cy="584200"/>
          </a:xfrm>
          <a:prstGeom prst="rect">
            <a:avLst/>
          </a:prstGeom>
        </p:spPr>
      </p:pic>
      <p:sp>
        <p:nvSpPr>
          <p:cNvPr id="11" name="TextBox 11"/>
          <p:cNvSpPr txBox="true"/>
          <p:nvPr/>
        </p:nvSpPr>
        <p:spPr>
          <a:xfrm rot="0">
            <a:off x="6959600" y="29210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01</a:t>
            </a:r>
          </a:p>
        </p:txBody>
      </p:sp>
      <p:sp>
        <p:nvSpPr>
          <p:cNvPr id="12" name="TextBox 12"/>
          <p:cNvSpPr txBox="true"/>
          <p:nvPr/>
        </p:nvSpPr>
        <p:spPr>
          <a:xfrm rot="0">
            <a:off x="7937500" y="32766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왜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'STEAM'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사이트를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채택하였는지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13" name="TextBox 13"/>
          <p:cNvSpPr txBox="true"/>
          <p:nvPr/>
        </p:nvSpPr>
        <p:spPr>
          <a:xfrm>
            <a:off x="7924800" y="2705100"/>
            <a:ext cx="4471035" cy="572135"/>
          </a:xfrm>
          <a:prstGeom prst="rect">
            <a:avLst/>
          </a:prstGeom>
        </p:spPr>
        <p:txBody>
          <a:bodyPr wrap="square" lIns="0" tIns="0" rIns="0" bIns="0" numCol="1" rtlCol="1" vert="horz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</a:pPr>
            <a:r>
              <a:rPr lang="en-US" sz="3200" i="0" b="0" strike="noStrike">
                <a:solidFill>
                  <a:srgbClr val="333333"/>
                </a:solidFill>
                <a:latin typeface="Pretendard Medium" charset="0"/>
              </a:rPr>
              <a:t>'STEAM' </a:t>
            </a: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선택</a:t>
            </a:r>
            <a:r>
              <a:rPr lang="en-US" sz="3200" i="0" b="0" strike="noStrike">
                <a:solidFill>
                  <a:srgbClr val="333333"/>
                </a:solidFill>
                <a:latin typeface="Pretendard Medium" charset="0"/>
              </a:rPr>
              <a:t> </a:t>
            </a:r>
            <a:r>
              <a:rPr lang="ko-KR" sz="3200" i="0" b="0" strike="noStrike">
                <a:solidFill>
                  <a:srgbClr val="333333"/>
                </a:solidFill>
                <a:ea typeface="Pretendard Medium" charset="0"/>
              </a:rPr>
              <a:t>이유</a:t>
            </a:r>
            <a:endParaRPr lang="ko-KR" altLang="en-US" sz="3200" i="0" b="0" strike="noStrike">
              <a:solidFill>
                <a:srgbClr val="333333"/>
              </a:solidFill>
              <a:ea typeface="Pretendard Medium" charset="0"/>
            </a:endParaRPr>
          </a:p>
        </p:txBody>
      </p:sp>
      <p:pic>
        <p:nvPicPr>
          <p:cNvPr id="15" name="Picture 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4152900"/>
            <a:ext cx="596900" cy="584200"/>
          </a:xfrm>
          <a:prstGeom prst="rect">
            <a:avLst/>
          </a:prstGeom>
        </p:spPr>
      </p:pic>
      <p:sp>
        <p:nvSpPr>
          <p:cNvPr id="16" name="TextBox 16"/>
          <p:cNvSpPr txBox="true"/>
          <p:nvPr/>
        </p:nvSpPr>
        <p:spPr>
          <a:xfrm rot="0">
            <a:off x="6959600" y="42418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02</a:t>
            </a:r>
          </a:p>
        </p:txBody>
      </p:sp>
      <p:sp>
        <p:nvSpPr>
          <p:cNvPr id="17" name="TextBox 17"/>
          <p:cNvSpPr txBox="true"/>
          <p:nvPr/>
        </p:nvSpPr>
        <p:spPr>
          <a:xfrm rot="0">
            <a:off x="7937500" y="45974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정보구조설계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와이어프레임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페이지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설계한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의도는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무엇인가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18" name="TextBox 18"/>
          <p:cNvSpPr txBox="true"/>
          <p:nvPr/>
        </p:nvSpPr>
        <p:spPr>
          <a:xfrm rot="0">
            <a:off x="7924800" y="4025900"/>
            <a:ext cx="66040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정보구조설계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와이어프레임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제작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의도</a:t>
            </a:r>
          </a:p>
        </p:txBody>
      </p:sp>
      <p:pic>
        <p:nvPicPr>
          <p:cNvPr id="20" name="Picture 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5499100"/>
            <a:ext cx="596900" cy="584200"/>
          </a:xfrm>
          <a:prstGeom prst="rect">
            <a:avLst/>
          </a:prstGeom>
        </p:spPr>
      </p:pic>
      <p:sp>
        <p:nvSpPr>
          <p:cNvPr id="21" name="TextBox 21"/>
          <p:cNvSpPr txBox="true"/>
          <p:nvPr/>
        </p:nvSpPr>
        <p:spPr>
          <a:xfrm rot="0">
            <a:off x="6959600" y="55753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03</a:t>
            </a:r>
          </a:p>
        </p:txBody>
      </p:sp>
      <p:sp>
        <p:nvSpPr>
          <p:cNvPr id="22" name="TextBox 22"/>
          <p:cNvSpPr txBox="true"/>
          <p:nvPr/>
        </p:nvSpPr>
        <p:spPr>
          <a:xfrm rot="0">
            <a:off x="7950200" y="59309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웹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디자인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시안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및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웹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디자인의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포인트는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어떻게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구성되어있는가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23" name="TextBox 23"/>
          <p:cNvSpPr txBox="true"/>
          <p:nvPr/>
        </p:nvSpPr>
        <p:spPr>
          <a:xfrm rot="0">
            <a:off x="7924800" y="5359400"/>
            <a:ext cx="57277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디자인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시안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구성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포인트</a:t>
            </a:r>
          </a:p>
        </p:txBody>
      </p:sp>
      <p:pic>
        <p:nvPicPr>
          <p:cNvPr id="25" name="Picture 2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97700" y="6845300"/>
            <a:ext cx="596900" cy="584200"/>
          </a:xfrm>
          <a:prstGeom prst="rect">
            <a:avLst/>
          </a:prstGeom>
        </p:spPr>
      </p:pic>
      <p:sp>
        <p:nvSpPr>
          <p:cNvPr id="26" name="TextBox 26"/>
          <p:cNvSpPr txBox="true"/>
          <p:nvPr/>
        </p:nvSpPr>
        <p:spPr>
          <a:xfrm rot="0">
            <a:off x="6959600" y="6921500"/>
            <a:ext cx="647700" cy="406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333333"/>
                </a:solidFill>
                <a:latin typeface="Pretendard Bold"/>
              </a:rPr>
              <a:t>04</a:t>
            </a:r>
          </a:p>
        </p:txBody>
      </p:sp>
      <p:sp>
        <p:nvSpPr>
          <p:cNvPr id="27" name="TextBox 27"/>
          <p:cNvSpPr txBox="true"/>
          <p:nvPr/>
        </p:nvSpPr>
        <p:spPr>
          <a:xfrm rot="0">
            <a:off x="7950200" y="7277100"/>
            <a:ext cx="59436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향후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어떻게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해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나갈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것인지와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그에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관련한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 </a:t>
            </a:r>
            <a:r>
              <a:rPr lang="ko-KR" sz="1800" b="false" i="false" u="none" strike="noStrike">
                <a:solidFill>
                  <a:srgbClr val="9E9E9E"/>
                </a:solidFill>
                <a:ea typeface="Pretendard Light"/>
              </a:rPr>
              <a:t>질의응답</a:t>
            </a:r>
            <a:r>
              <a:rPr lang="en-US" sz="1800" b="false" i="false" u="none" strike="noStrike">
                <a:solidFill>
                  <a:srgbClr val="9E9E9E"/>
                </a:solidFill>
                <a:latin typeface="Pretendard Light"/>
              </a:rPr>
              <a:t>.</a:t>
            </a:r>
          </a:p>
        </p:txBody>
      </p:sp>
      <p:sp>
        <p:nvSpPr>
          <p:cNvPr id="28" name="TextBox 28"/>
          <p:cNvSpPr txBox="true"/>
          <p:nvPr/>
        </p:nvSpPr>
        <p:spPr>
          <a:xfrm rot="0">
            <a:off x="7924800" y="6705600"/>
            <a:ext cx="47244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향후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계획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false" i="false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false" i="false" u="none" strike="noStrike">
                <a:solidFill>
                  <a:srgbClr val="333333"/>
                </a:solidFill>
                <a:latin typeface="Pretendard Medium"/>
              </a:rPr>
              <a:t> QNA</a:t>
            </a:r>
          </a:p>
        </p:txBody>
      </p:sp>
      <p:sp>
        <p:nvSpPr>
          <p:cNvPr id="29" name="TextBox 29"/>
          <p:cNvSpPr txBox="true"/>
          <p:nvPr/>
        </p:nvSpPr>
        <p:spPr>
          <a:xfrm rot="0">
            <a:off x="406400" y="9372600"/>
            <a:ext cx="22606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1800" b="false" i="false" u="none" strike="noStrike">
                <a:solidFill>
                  <a:srgbClr val="FFFFFF">
                    <a:alpha val="50196"/>
                  </a:srgbClr>
                </a:solidFill>
                <a:latin typeface="Pretendard Light"/>
              </a:rPr>
              <a:t>2</a:t>
            </a:r>
            <a:r>
              <a:rPr lang="ko-KR" sz="1800" b="false" i="false" u="none" strike="noStrike">
                <a:solidFill>
                  <a:srgbClr val="FFFFFF">
                    <a:alpha val="50196"/>
                  </a:srgbClr>
                </a:solidFill>
                <a:ea typeface="Pretendard Light"/>
              </a:rPr>
              <a:t>팀</a:t>
            </a:r>
            <a:r>
              <a:rPr lang="en-US" sz="1800" b="false" i="false" u="none" strike="noStrike">
                <a:solidFill>
                  <a:srgbClr val="FFFFFF">
                    <a:alpha val="50196"/>
                  </a:srgbClr>
                </a:solidFill>
                <a:latin typeface="Pretendard Light"/>
              </a:rPr>
              <a:t> - STEAM</a:t>
            </a:r>
          </a:p>
        </p:txBody>
      </p:sp>
      <p:sp>
        <p:nvSpPr>
          <p:cNvPr id="30" name="TextBox 30"/>
          <p:cNvSpPr txBox="true"/>
          <p:nvPr/>
        </p:nvSpPr>
        <p:spPr>
          <a:xfrm rot="0">
            <a:off x="1727200" y="1460500"/>
            <a:ext cx="31369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1300"/>
              </a:lnSpc>
            </a:pPr>
            <a:r>
              <a:rPr lang="ko-KR" sz="7000" b="false" i="false" u="none" strike="noStrike" spc="-300">
                <a:solidFill>
                  <a:srgbClr val="333333"/>
                </a:solidFill>
                <a:ea typeface="Pretendard Bold"/>
              </a:rPr>
              <a:t>목차</a:t>
            </a:r>
          </a:p>
        </p:txBody>
      </p:sp>
      <p:pic>
        <p:nvPicPr>
          <p:cNvPr id="31" name="Picture 3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79400" y="-698500"/>
            <a:ext cx="5816600" cy="5372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38500"/>
            <a:ext cx="7785100" cy="7061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259300" y="9601200"/>
            <a:ext cx="558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Pretendard Medium"/>
              </a:rPr>
              <a:t>03</a:t>
            </a:r>
            <a:endParaRPr lang="en-US" sz="2000" b="0" i="0" u="none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4000" cy="1016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800100"/>
            <a:ext cx="5651500" cy="850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1300"/>
              </a:lnSpc>
              <a:defRPr/>
            </a:pP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'STEAM'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선택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이유</a:t>
            </a:r>
            <a:endParaRPr lang="ko-KR" sz="4800" b="0" i="0" u="none" strike="noStrike" spc="-200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78000" y="609600"/>
            <a:ext cx="43942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01.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왜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'STEAM'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사이트를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채택하였는지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.</a:t>
            </a:r>
            <a:endParaRPr lang="en-US" sz="1800" b="0" i="0" u="none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36100" y="1435100"/>
            <a:ext cx="7569200" cy="367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>
            <a:alphaModFix amt="40000"/>
          </a:blip>
          <a:stretch>
            <a:fillRect/>
          </a:stretch>
        </p:blipFill>
        <p:spPr>
          <a:xfrm>
            <a:off x="9436100" y="1435100"/>
            <a:ext cx="7569200" cy="1041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198100" y="1663700"/>
            <a:ext cx="49403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지저분한</a:t>
            </a:r>
            <a:r>
              <a:rPr lang="en-US" sz="3200" b="0" i="0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내비게이션</a:t>
            </a:r>
            <a:r>
              <a:rPr lang="en-US" sz="3200" b="0" i="0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바</a:t>
            </a:r>
            <a:endParaRPr lang="ko-KR" sz="3200" b="0" i="0" u="none" strike="noStrike">
              <a:solidFill>
                <a:srgbClr val="333333"/>
              </a:solidFill>
              <a:ea typeface="Pretendar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69500" y="2959100"/>
            <a:ext cx="6578600" cy="16510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무작위로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어지럽게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나열되어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있는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글로벌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바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복잡하게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되어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있음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글씨가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많이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작아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가독성이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현저히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떨어짐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눈에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띄는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문구가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전혀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없음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69400" y="1651000"/>
            <a:ext cx="622300" cy="622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9131300" y="1727200"/>
            <a:ext cx="6858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Pretendard Bold"/>
              </a:rPr>
              <a:t>01</a:t>
            </a:r>
            <a:endParaRPr lang="en-US" sz="2400" b="0" i="0" u="none" strike="noStrike">
              <a:solidFill>
                <a:srgbClr val="333333"/>
              </a:solidFill>
              <a:latin typeface="Pretendard Bold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423400" y="5537200"/>
            <a:ext cx="7569200" cy="3670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>
            <a:alphaModFix amt="40000"/>
          </a:blip>
          <a:stretch>
            <a:fillRect/>
          </a:stretch>
        </p:blipFill>
        <p:spPr>
          <a:xfrm>
            <a:off x="9436100" y="5537200"/>
            <a:ext cx="7569200" cy="1041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916400" y="0"/>
            <a:ext cx="1371600" cy="1409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727200" y="2120900"/>
            <a:ext cx="4927600" cy="7264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198100" y="5765800"/>
            <a:ext cx="49403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사용자에</a:t>
            </a:r>
            <a:r>
              <a:rPr lang="en-US" sz="3200" b="0" i="0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대한</a:t>
            </a:r>
            <a:r>
              <a:rPr lang="en-US" sz="3200" b="0" i="0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배려심</a:t>
            </a:r>
            <a:r>
              <a:rPr lang="en-US" sz="3200" b="0" i="0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부족</a:t>
            </a:r>
            <a:endParaRPr lang="ko-KR" sz="3200" b="0" i="0" u="none" strike="noStrike">
              <a:solidFill>
                <a:srgbClr val="333333"/>
              </a:solidFill>
              <a:ea typeface="Pretendard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969500" y="7061200"/>
            <a:ext cx="6578600" cy="16510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처음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사이트를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이용하는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사용자에게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다소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어려움이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있음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어느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것에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손을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대야할지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감도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안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잡힘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로그인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페이지가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작게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되어있어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로그인하는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데에도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어려움이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있음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169400" y="5753100"/>
            <a:ext cx="622300" cy="6223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9131300" y="5829300"/>
            <a:ext cx="6858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Pretendard Bold"/>
              </a:rPr>
              <a:t>02</a:t>
            </a:r>
            <a:endParaRPr lang="en-US" sz="2400" b="0" i="0" u="none" strike="noStrike">
              <a:solidFill>
                <a:srgbClr val="333333"/>
              </a:solidFill>
              <a:latin typeface="Pretendard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3"/>
          <p:cNvSpPr txBox="1"/>
          <p:nvPr/>
        </p:nvSpPr>
        <p:spPr>
          <a:xfrm>
            <a:off x="2150745" y="4504055"/>
            <a:ext cx="10246360" cy="341376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1. </a:t>
            </a:r>
            <a:r>
              <a:rPr sz="2400">
                <a:latin typeface="맑은 고딕"/>
                <a:ea typeface="맑은 고딕"/>
              </a:rPr>
              <a:t>유저 관련</a:t>
            </a:r>
            <a:r>
              <a:rPr lang="ko-KR" sz="2400">
                <a:latin typeface="맑은 고딕"/>
                <a:ea typeface="맑은 고딕"/>
              </a:rPr>
              <a:t> : </a:t>
            </a:r>
            <a:r>
              <a:rPr sz="2400">
                <a:latin typeface="맑은 고딕"/>
                <a:ea typeface="맑은 고딕"/>
              </a:rPr>
              <a:t>login, signup, mypage, 프로필수정</a:t>
            </a:r>
            <a:endParaRPr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endParaRPr lang="ko-KR" altLang="en-US"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2. </a:t>
            </a:r>
            <a:r>
              <a:rPr sz="2400">
                <a:latin typeface="맑은 고딕"/>
                <a:ea typeface="맑은 고딕"/>
              </a:rPr>
              <a:t>쇼핑 흐름 :</a:t>
            </a:r>
            <a:r>
              <a:rPr lang="ko-KR" sz="2400">
                <a:latin typeface="맑은 고딕"/>
                <a:ea typeface="맑은 고딕"/>
              </a:rPr>
              <a:t> s</a:t>
            </a:r>
            <a:r>
              <a:rPr sz="2400">
                <a:latin typeface="맑은 고딕"/>
                <a:ea typeface="맑은 고딕"/>
              </a:rPr>
              <a:t>tore, 게임정보창, 구매창</a:t>
            </a:r>
            <a:r>
              <a:rPr lang="ko-KR" sz="2400">
                <a:latin typeface="맑은 고딕"/>
                <a:ea typeface="맑은 고딕"/>
              </a:rPr>
              <a:t> </a:t>
            </a:r>
            <a:endParaRPr lang="ko-KR"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endParaRPr lang="ko-KR" altLang="en-US"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3.</a:t>
            </a:r>
            <a:r>
              <a:rPr sz="2400">
                <a:latin typeface="맑은 고딕"/>
                <a:ea typeface="맑은 고딕"/>
              </a:rPr>
              <a:t> 콘텐츠 탐색 :</a:t>
            </a:r>
            <a:r>
              <a:rPr lang="ko-KR" sz="2400">
                <a:latin typeface="맑은 고딕"/>
                <a:ea typeface="맑은 고딕"/>
              </a:rPr>
              <a:t> </a:t>
            </a:r>
            <a:r>
              <a:rPr sz="2400">
                <a:latin typeface="맑은 고딕"/>
                <a:ea typeface="맑은 고딕"/>
              </a:rPr>
              <a:t>ranking,</a:t>
            </a:r>
            <a:r>
              <a:rPr lang="ko-KR" sz="2400">
                <a:latin typeface="맑은 고딕"/>
                <a:ea typeface="맑은 고딕"/>
              </a:rPr>
              <a:t> </a:t>
            </a:r>
            <a:r>
              <a:rPr sz="2400">
                <a:latin typeface="맑은 고딕"/>
                <a:ea typeface="맑은 고딕"/>
              </a:rPr>
              <a:t>community(news, review)</a:t>
            </a:r>
            <a:endParaRPr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endParaRPr lang="ko-KR" altLang="en-US"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4.</a:t>
            </a:r>
            <a:r>
              <a:rPr sz="2400">
                <a:latin typeface="맑은 고딕"/>
                <a:ea typeface="맑은 고딕"/>
              </a:rPr>
              <a:t> 고객지원</a:t>
            </a:r>
            <a:r>
              <a:rPr lang="ko-KR" sz="2400">
                <a:latin typeface="맑은 고딕"/>
                <a:ea typeface="맑은 고딕"/>
              </a:rPr>
              <a:t> : </a:t>
            </a:r>
            <a:r>
              <a:rPr sz="2400">
                <a:latin typeface="맑은 고딕"/>
                <a:ea typeface="맑은 고딕"/>
              </a:rPr>
              <a:t>qna, notice</a:t>
            </a:r>
            <a:endParaRPr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endParaRPr lang="ko-KR" altLang="en-US" sz="2400">
              <a:latin typeface="맑은 고딕"/>
              <a:ea typeface="맑은 고딕"/>
            </a:endParaRPr>
          </a:p>
          <a:p>
            <a:pPr marL="0" indent="0" algn="l" hangingPunct="1"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5. </a:t>
            </a:r>
            <a:r>
              <a:rPr sz="2400">
                <a:latin typeface="맑은 고딕"/>
                <a:ea typeface="맑은 고딕"/>
              </a:rPr>
              <a:t>브랜드 소개 :</a:t>
            </a:r>
            <a:r>
              <a:rPr lang="ko-KR" sz="2400">
                <a:latin typeface="맑은 고딕"/>
                <a:ea typeface="맑은 고딕"/>
              </a:rPr>
              <a:t> </a:t>
            </a:r>
            <a:r>
              <a:rPr sz="2400">
                <a:latin typeface="맑은 고딕"/>
                <a:ea typeface="맑은 고딕"/>
              </a:rPr>
              <a:t>story.html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3" name="텍스트 상자 4"/>
          <p:cNvSpPr txBox="1"/>
          <p:nvPr/>
        </p:nvSpPr>
        <p:spPr>
          <a:xfrm>
            <a:off x="948690" y="863600"/>
            <a:ext cx="16435705" cy="3415665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lnSpc>
                <a:spcPct val="150000"/>
              </a:lnSpc>
              <a:buFontTx/>
              <a:buNone/>
              <a:defRPr/>
            </a:pPr>
            <a:r>
              <a:rPr sz="2400">
                <a:latin typeface="맑은 고딕"/>
                <a:ea typeface="맑은 고딕"/>
              </a:rPr>
              <a:t>1. </a:t>
            </a:r>
            <a:r>
              <a:rPr lang="ko-KR" sz="2400">
                <a:latin typeface="맑은 고딕"/>
                <a:ea typeface="맑은 고딕"/>
              </a:rPr>
              <a:t>스팀 선정 이유</a:t>
            </a:r>
            <a:endParaRPr lang="ko-KR" sz="2400">
              <a:latin typeface="맑은 고딕"/>
              <a:ea typeface="맑은 고딕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2. 정보 구조 설계</a:t>
            </a:r>
            <a:endParaRPr lang="ko-KR" sz="2400">
              <a:latin typeface="맑은 고딕"/>
              <a:ea typeface="맑은 고딕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3. 메인 페이지 설명 ( 섹션 별로 기존 사이트 + 벤치마킹 &gt; 와이어프레임, 시안 2~3p로 보여주면 될듯?  **디자인 시안은 기능 구현위주로 설명)</a:t>
            </a:r>
            <a:endParaRPr lang="ko-KR" sz="2400">
              <a:latin typeface="맑은 고딕"/>
              <a:ea typeface="맑은 고딕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  <a:defRPr/>
            </a:pPr>
            <a:r>
              <a:rPr lang="ko-KR" sz="2400">
                <a:latin typeface="맑은 고딕"/>
                <a:ea typeface="맑은 고딕"/>
              </a:rPr>
              <a:t>4. 서브 페이지 설명( </a:t>
            </a:r>
            <a:r>
              <a:rPr lang="ko-KR" sz="2400" b="1">
                <a:latin typeface="맑은 고딕"/>
                <a:ea typeface="맑은 고딕"/>
              </a:rPr>
              <a:t>성격 비슷한 페이지끼리</a:t>
            </a:r>
            <a:r>
              <a:rPr lang="ko-KR" sz="2400">
                <a:latin typeface="맑은 고딕"/>
                <a:ea typeface="맑은 고딕"/>
              </a:rPr>
              <a:t>, 마찬가지로 기존 사이트 + 벤치마킹 먼저 보여주고 와이어프레임, 시안  **디자인 시안은 기능 구현위주로 설명)</a:t>
            </a:r>
            <a:endParaRPr lang="ko-KR" altLang="en-US" sz="2400">
              <a:latin typeface="맑은 고딕"/>
              <a:ea typeface="맑은 고딕"/>
            </a:endParaRPr>
          </a:p>
        </p:txBody>
      </p:sp>
      <p:cxnSp>
        <p:nvCxnSpPr>
          <p:cNvPr id="4" name="도형 77"/>
          <p:cNvCxnSpPr/>
          <p:nvPr/>
        </p:nvCxnSpPr>
        <p:spPr>
          <a:xfrm>
            <a:off x="1170305" y="4367530"/>
            <a:ext cx="803910" cy="422275"/>
          </a:xfrm>
          <a:prstGeom prst="bentConnector3">
            <a:avLst>
              <a:gd name="adj1" fmla="val -1657"/>
            </a:avLst>
          </a:prstGeom>
          <a:ln w="9525" cap="flat" cmpd="sng">
            <a:headEnd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48965" y="3226435"/>
            <a:ext cx="7785735" cy="7061835"/>
          </a:xfrm>
          <a:prstGeom prst="rect">
            <a:avLst/>
          </a:prstGeom>
          <a:noFill/>
        </p:spPr>
      </p:pic>
      <p:sp>
        <p:nvSpPr>
          <p:cNvPr id="3" name="Rect 0"/>
          <p:cNvSpPr txBox="1"/>
          <p:nvPr/>
        </p:nvSpPr>
        <p:spPr>
          <a:xfrm>
            <a:off x="17259300" y="9601200"/>
            <a:ext cx="559435" cy="3562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  <a:defRPr/>
            </a:pPr>
            <a:r>
              <a:rPr lang="en-US" sz="2000" b="0" i="0" strike="noStrike">
                <a:solidFill>
                  <a:srgbClr val="333333"/>
                </a:solidFill>
                <a:latin typeface="Pretendard Medium"/>
              </a:rPr>
              <a:t>0</a:t>
            </a:r>
            <a:r>
              <a:rPr lang="en-US" altLang="ko-KR" sz="2000" b="0" i="0" strike="noStrike">
                <a:solidFill>
                  <a:srgbClr val="333333"/>
                </a:solidFill>
                <a:latin typeface="Pretendard Medium"/>
              </a:rPr>
              <a:t>4</a:t>
            </a:r>
            <a:endParaRPr lang="en-US" altLang="ko-KR" sz="2000" b="0" i="0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4635" cy="1016635"/>
          </a:xfrm>
          <a:prstGeom prst="rect">
            <a:avLst/>
          </a:prstGeom>
          <a:noFill/>
        </p:spPr>
      </p:pic>
      <p:sp>
        <p:nvSpPr>
          <p:cNvPr id="5" name="Rect 0"/>
          <p:cNvSpPr txBox="1"/>
          <p:nvPr/>
        </p:nvSpPr>
        <p:spPr>
          <a:xfrm>
            <a:off x="1727200" y="800100"/>
            <a:ext cx="5652135" cy="8515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  <a:defRPr/>
            </a:pPr>
            <a:r>
              <a:rPr lang="ko-KR" sz="4800" b="0" i="0" strike="noStrike" spc="-190">
                <a:solidFill>
                  <a:srgbClr val="333333"/>
                </a:solidFill>
                <a:ea typeface="Pretendard Bold"/>
              </a:rPr>
              <a:t>정보 구조 설계</a:t>
            </a:r>
            <a:endParaRPr lang="ko-KR" altLang="en-US" sz="4800" b="0" i="0" strike="noStrike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Rect 0"/>
          <p:cNvSpPr txBox="1"/>
          <p:nvPr/>
        </p:nvSpPr>
        <p:spPr>
          <a:xfrm>
            <a:off x="1778000" y="609600"/>
            <a:ext cx="3861435" cy="3181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ko-KR" sz="1800" b="0" i="0" strike="noStrike">
                <a:solidFill>
                  <a:srgbClr val="b7c5ca"/>
                </a:solidFill>
                <a:latin typeface="Pretendard Medium"/>
              </a:rPr>
              <a:t>02. 정보구조설계</a:t>
            </a:r>
            <a:endParaRPr lang="ko-KR" altLang="en-US" sz="1800" b="0" i="0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16" name="Picture 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16400" y="0"/>
            <a:ext cx="1372235" cy="1410335"/>
          </a:xfrm>
          <a:prstGeom prst="rect">
            <a:avLst/>
          </a:prstGeom>
          <a:noFill/>
        </p:spPr>
      </p:pic>
      <p:pic>
        <p:nvPicPr>
          <p:cNvPr id="17" name="그림 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05600" y="1417944"/>
            <a:ext cx="9721942" cy="745111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38500"/>
            <a:ext cx="7785100" cy="7061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259300" y="9601200"/>
            <a:ext cx="558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Pretendard Medium"/>
              </a:rPr>
              <a:t>0</a:t>
            </a:r>
            <a:r>
              <a:rPr lang="en-US" altLang="ko-KR" sz="2000" b="0" i="0" u="none" strike="noStrike">
                <a:solidFill>
                  <a:srgbClr val="333333"/>
                </a:solidFill>
                <a:latin typeface="Pretendard Medium"/>
              </a:rPr>
              <a:t>5</a:t>
            </a:r>
            <a:endParaRPr lang="en-US" altLang="ko-KR" sz="2000" b="0" i="0" u="none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4000" cy="1016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901700"/>
            <a:ext cx="12179300" cy="850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1300"/>
              </a:lnSpc>
              <a:defRPr/>
            </a:pP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정보구조설계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및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와이어프레임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제작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의도</a:t>
            </a:r>
            <a:endParaRPr lang="ko-KR" sz="4800" b="0" i="0" u="none" strike="noStrike" spc="-200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27200" y="685800"/>
            <a:ext cx="69215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정보구조설계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및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와이어프레임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페이지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설계한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의도는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무엇인가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.</a:t>
            </a:r>
            <a:endParaRPr lang="en-US" sz="1800" b="0" i="0" u="none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24000" y="2197100"/>
            <a:ext cx="7569200" cy="3670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>
            <a:alphaModFix amt="40000"/>
          </a:blip>
          <a:stretch>
            <a:fillRect/>
          </a:stretch>
        </p:blipFill>
        <p:spPr>
          <a:xfrm>
            <a:off x="1536700" y="2197100"/>
            <a:ext cx="7569200" cy="1041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298700" y="2425700"/>
            <a:ext cx="4127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정보구조설계</a:t>
            </a:r>
            <a:endParaRPr lang="ko-KR" sz="3200" b="0" i="0" u="none" strike="noStrike">
              <a:solidFill>
                <a:srgbClr val="333333"/>
              </a:solidFill>
              <a:ea typeface="Pretendar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70100" y="3924300"/>
            <a:ext cx="6578600" cy="1231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HEADER, CONTENTS, FOOTER 3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가지를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사용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HEADER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안에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NAVIGATION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추가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CONTENTS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안에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SECTION 3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가지를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나뉘었음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70000" y="2413000"/>
            <a:ext cx="622300" cy="622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31900" y="2489200"/>
            <a:ext cx="6858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Pretendard Bold"/>
              </a:rPr>
              <a:t>01</a:t>
            </a:r>
            <a:endParaRPr lang="en-US" sz="2400" b="0" i="0" u="none" strike="noStrike">
              <a:solidFill>
                <a:srgbClr val="333333"/>
              </a:solidFill>
              <a:latin typeface="Pretendard Bold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24000" y="6299200"/>
            <a:ext cx="7569200" cy="3670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>
            <a:alphaModFix amt="40000"/>
          </a:blip>
          <a:stretch>
            <a:fillRect/>
          </a:stretch>
        </p:blipFill>
        <p:spPr>
          <a:xfrm>
            <a:off x="1536700" y="6299200"/>
            <a:ext cx="7569200" cy="1041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916400" y="0"/>
            <a:ext cx="1371600" cy="1409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298700" y="6527800"/>
            <a:ext cx="4127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3200" b="0" i="0" u="none" strike="noStrike">
                <a:solidFill>
                  <a:srgbClr val="333333"/>
                </a:solidFill>
                <a:latin typeface="Pretendard Medium"/>
              </a:rPr>
              <a:t>INDEX </a:t>
            </a: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0" i="0" u="none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내비게이션</a:t>
            </a:r>
            <a:endParaRPr lang="ko-KR" sz="3200" b="0" i="0" u="none" strike="noStrike">
              <a:solidFill>
                <a:srgbClr val="333333"/>
              </a:solidFill>
              <a:ea typeface="Pretendard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070100" y="7353300"/>
            <a:ext cx="6566535" cy="25660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로그인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전 /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페이지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마이페이지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프로필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프로필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수정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보관함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스토어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게임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카테고리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게임정보창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구매창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랭킹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 </a:t>
            </a:r>
            <a:endParaRPr lang="en-US" sz="1700" b="0" i="0" strike="noStrike">
              <a:solidFill>
                <a:srgbClr val="333333"/>
              </a:solidFill>
              <a:latin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커뮤니티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뉴스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(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새로운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소식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),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리뷰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고객센터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QNA,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공지사항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브랜드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소개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 </a:t>
            </a:r>
            <a:endParaRPr lang="ko-KR" altLang="en-US" sz="1700" b="0" i="0" strike="noStrike">
              <a:solidFill>
                <a:srgbClr val="333333"/>
              </a:solidFill>
              <a:latin typeface="Pretendard Light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270000" y="6515100"/>
            <a:ext cx="622300" cy="622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219200" y="6591300"/>
            <a:ext cx="6858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Pretendard Bold"/>
              </a:rPr>
              <a:t>02</a:t>
            </a:r>
            <a:endParaRPr lang="en-US" sz="2400" b="0" i="0" u="none" strike="noStrike">
              <a:solidFill>
                <a:srgbClr val="333333"/>
              </a:solidFill>
              <a:latin typeface="Pretendard Bold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918700" y="4076700"/>
            <a:ext cx="7569200" cy="3670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2">
            <a:alphaModFix amt="40000"/>
          </a:blip>
          <a:stretch>
            <a:fillRect/>
          </a:stretch>
        </p:blipFill>
        <p:spPr>
          <a:xfrm>
            <a:off x="9918700" y="4076700"/>
            <a:ext cx="7569200" cy="1041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0693400" y="4305300"/>
            <a:ext cx="41275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333333"/>
                </a:solidFill>
                <a:ea typeface="Pretendard Medium"/>
              </a:rPr>
              <a:t>와이어프레임</a:t>
            </a:r>
            <a:endParaRPr lang="ko-KR" sz="3200" b="0" i="0" u="none" strike="noStrike">
              <a:solidFill>
                <a:srgbClr val="333333"/>
              </a:solidFill>
              <a:ea typeface="Pretendard Medium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664700" y="4292600"/>
            <a:ext cx="622300" cy="622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9613900" y="4381500"/>
            <a:ext cx="6858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Pretendard Bold"/>
              </a:rPr>
              <a:t>03</a:t>
            </a:r>
            <a:endParaRPr lang="en-US" sz="2400" b="0" i="0" u="none" strike="noStrike">
              <a:solidFill>
                <a:srgbClr val="333333"/>
              </a:solidFill>
              <a:latin typeface="Pretendard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0515600" y="5854700"/>
            <a:ext cx="6578600" cy="12319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불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필요한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글로벌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과감히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삭제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'FIGMA'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를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통해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게임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사이트들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벤치마킹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marL="342900" lvl="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메인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서브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당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각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10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개씩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벤치마킹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 0"/>
          <p:cNvSpPr/>
          <p:nvPr/>
        </p:nvSpPr>
        <p:spPr>
          <a:xfrm>
            <a:off x="749935" y="2524125"/>
            <a:ext cx="16574135" cy="2941955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13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38500"/>
            <a:ext cx="7786370" cy="7062470"/>
          </a:xfrm>
          <a:prstGeom prst="rect">
            <a:avLst/>
          </a:prstGeom>
          <a:noFill/>
        </p:spPr>
      </p:pic>
      <p:sp>
        <p:nvSpPr>
          <p:cNvPr id="3" name="Rect 0"/>
          <p:cNvSpPr txBox="1"/>
          <p:nvPr/>
        </p:nvSpPr>
        <p:spPr>
          <a:xfrm>
            <a:off x="17259300" y="9601200"/>
            <a:ext cx="560070" cy="3568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  <a:defRPr/>
            </a:pPr>
            <a:r>
              <a:rPr lang="en-US" sz="2000" b="0" i="0" strike="noStrike">
                <a:solidFill>
                  <a:srgbClr val="333333"/>
                </a:solidFill>
                <a:latin typeface="Pretendard Medium"/>
              </a:rPr>
              <a:t>0</a:t>
            </a:r>
            <a:r>
              <a:rPr lang="en-US" altLang="ko-KR" sz="2000" b="0" i="0" strike="noStrike">
                <a:solidFill>
                  <a:srgbClr val="333333"/>
                </a:solidFill>
                <a:latin typeface="Pretendard Medium"/>
              </a:rPr>
              <a:t>6</a:t>
            </a:r>
            <a:endParaRPr lang="en-US" altLang="ko-KR" sz="2000" b="0" i="0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5270" cy="1017270"/>
          </a:xfrm>
          <a:prstGeom prst="rect">
            <a:avLst/>
          </a:prstGeom>
          <a:noFill/>
        </p:spPr>
      </p:pic>
      <p:sp>
        <p:nvSpPr>
          <p:cNvPr id="5" name="Rect 0"/>
          <p:cNvSpPr txBox="1"/>
          <p:nvPr/>
        </p:nvSpPr>
        <p:spPr>
          <a:xfrm>
            <a:off x="1691005" y="463550"/>
            <a:ext cx="12180570" cy="8521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  <a:defRPr/>
            </a:pPr>
            <a:r>
              <a:rPr lang="ko-KR" sz="4800" b="0" i="0" strike="noStrike" spc="-180">
                <a:solidFill>
                  <a:srgbClr val="333333"/>
                </a:solidFill>
                <a:ea typeface="Pretendard Bold"/>
              </a:rPr>
              <a:t>Main_header</a:t>
            </a:r>
            <a:endParaRPr lang="ko-KR" altLang="en-US" sz="4800" b="0" i="0" strike="noStrike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Rect 0"/>
          <p:cNvSpPr txBox="1"/>
          <p:nvPr/>
        </p:nvSpPr>
        <p:spPr>
          <a:xfrm>
            <a:off x="1691005" y="247650"/>
            <a:ext cx="6160770" cy="3187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0" i="0" strike="noStrike">
                <a:solidFill>
                  <a:srgbClr val="b7c5ca"/>
                </a:solidFill>
                <a:latin typeface="Pretendard Medium"/>
              </a:rPr>
              <a:t>메인페이지_header</a:t>
            </a:r>
            <a:endParaRPr lang="ko-KR" altLang="en-US" sz="1800" b="0" i="0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16400" y="0"/>
            <a:ext cx="1372870" cy="1410970"/>
          </a:xfrm>
          <a:prstGeom prst="rect">
            <a:avLst/>
          </a:prstGeom>
          <a:noFill/>
        </p:spPr>
      </p:pic>
      <p:pic>
        <p:nvPicPr>
          <p:cNvPr id="17" name="Picture " descr="C:/Users/wnscj/AppData/Roaming/PolarisOffice/ETemp/19684_17631904/fImage14235433941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23620" y="3001645"/>
            <a:ext cx="15821025" cy="2214245"/>
          </a:xfrm>
          <a:prstGeom prst="rect">
            <a:avLst/>
          </a:prstGeom>
          <a:noFill/>
        </p:spPr>
      </p:pic>
      <p:sp>
        <p:nvSpPr>
          <p:cNvPr id="22" name="Rect 0"/>
          <p:cNvSpPr txBox="1"/>
          <p:nvPr/>
        </p:nvSpPr>
        <p:spPr>
          <a:xfrm>
            <a:off x="3511550" y="1797685"/>
            <a:ext cx="3930650" cy="46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r>
              <a:rPr lang="ko-KR" sz="2400">
                <a:latin typeface="맑은 고딕"/>
                <a:ea typeface="맑은 고딕"/>
              </a:rPr>
              <a:t>- 기존 steam header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23" name="Rect 0"/>
          <p:cNvSpPr txBox="1"/>
          <p:nvPr/>
        </p:nvSpPr>
        <p:spPr>
          <a:xfrm>
            <a:off x="3512185" y="5762625"/>
            <a:ext cx="12466320" cy="300101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lnSpc>
                <a:spcPct val="200000"/>
              </a:lnSpc>
              <a:buFont typeface="Wingdings"/>
              <a:buChar char="ü"/>
              <a:defRPr/>
            </a:pPr>
            <a:r>
              <a:rPr lang="ko-KR" sz="2200">
                <a:latin typeface="맑은 고딕"/>
                <a:ea typeface="맑은 고딕"/>
              </a:rPr>
              <a:t>기존의 steam은 글로벌 내비게이션 + 로컬 내비게이션 구조 </a:t>
            </a:r>
            <a:endParaRPr lang="ko-KR" sz="2200">
              <a:latin typeface="맑은 고딕"/>
              <a:ea typeface="맑은 고딕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  <a:defRPr/>
            </a:pPr>
            <a:r>
              <a:rPr lang="ko-KR" sz="2200">
                <a:latin typeface="맑은 고딕"/>
                <a:ea typeface="맑은 고딕"/>
              </a:rPr>
              <a:t>   ┗ 글로벌 내비게이션은 지나치게 단순하게 구성 되어있음.</a:t>
            </a:r>
            <a:endParaRPr lang="ko-KR" sz="2200">
              <a:latin typeface="맑은 고딕"/>
              <a:ea typeface="맑은 고딕"/>
            </a:endParaRPr>
          </a:p>
          <a:p>
            <a:pPr marL="0" indent="0" algn="l" hangingPunct="1">
              <a:lnSpc>
                <a:spcPct val="200000"/>
              </a:lnSpc>
              <a:buFontTx/>
              <a:buNone/>
              <a:defRPr/>
            </a:pPr>
            <a:r>
              <a:rPr lang="ko-KR" sz="2200">
                <a:latin typeface="맑은 고딕"/>
                <a:ea typeface="맑은 고딕"/>
              </a:rPr>
              <a:t>   ┗ 반면 로컬 내비게이션은 과도하게 복잡한 구성</a:t>
            </a:r>
            <a:endParaRPr lang="ko-KR" sz="2200">
              <a:latin typeface="맑은 고딕"/>
              <a:ea typeface="맑은 고딕"/>
            </a:endParaRPr>
          </a:p>
          <a:p>
            <a:pPr marL="0" indent="0" algn="l" hangingPunct="1">
              <a:lnSpc>
                <a:spcPct val="150000"/>
              </a:lnSpc>
              <a:buFontTx/>
              <a:buNone/>
              <a:defRPr/>
            </a:pPr>
            <a:endParaRPr lang="ko-KR" altLang="en-US" sz="1800">
              <a:latin typeface="맑은 고딕"/>
              <a:ea typeface="맑은 고딕"/>
            </a:endParaRPr>
          </a:p>
          <a:p>
            <a:pPr marL="0" indent="0" algn="l" hangingPunct="1">
              <a:defRPr/>
            </a:pPr>
            <a:r>
              <a:rPr lang="ko-KR" sz="3000" b="1">
                <a:latin typeface="맑은 고딕"/>
                <a:ea typeface="맑은 고딕"/>
              </a:rPr>
              <a:t>∴ </a:t>
            </a:r>
            <a:r>
              <a:rPr lang="ko-KR" sz="2200" b="0">
                <a:latin typeface="맑은 고딕"/>
                <a:ea typeface="맑은 고딕"/>
              </a:rPr>
              <a:t>글로벌 내비게이션은 너무 단순하고, 로컬 내비게이션은 복잡해서 </a:t>
            </a:r>
            <a:r>
              <a:rPr lang="ko-KR" sz="2200" b="1">
                <a:latin typeface="맑은 고딕"/>
                <a:ea typeface="맑은 고딕"/>
              </a:rPr>
              <a:t>사용자 경험에 큰 혼란을 줌 </a:t>
            </a:r>
            <a:endParaRPr lang="ko-KR" altLang="en-US" sz="2400" b="0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38500"/>
            <a:ext cx="7786370" cy="7062470"/>
          </a:xfrm>
          <a:prstGeom prst="rect">
            <a:avLst/>
          </a:prstGeom>
          <a:noFill/>
        </p:spPr>
      </p:pic>
      <p:sp>
        <p:nvSpPr>
          <p:cNvPr id="3" name="Rect 0"/>
          <p:cNvSpPr txBox="1"/>
          <p:nvPr/>
        </p:nvSpPr>
        <p:spPr>
          <a:xfrm>
            <a:off x="17259300" y="9601200"/>
            <a:ext cx="560070" cy="3568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  <a:defRPr/>
            </a:pPr>
            <a:r>
              <a:rPr lang="en-US" altLang="ko-KR" sz="2000" b="0" i="0" strike="noStrike">
                <a:solidFill>
                  <a:srgbClr val="333333"/>
                </a:solidFill>
                <a:latin typeface="Pretendard Medium"/>
              </a:rPr>
              <a:t>07</a:t>
            </a:r>
            <a:endParaRPr lang="en-US" altLang="ko-KR" sz="2000" b="0" i="0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5270" cy="1017270"/>
          </a:xfrm>
          <a:prstGeom prst="rect">
            <a:avLst/>
          </a:prstGeom>
          <a:noFill/>
        </p:spPr>
      </p:pic>
      <p:sp>
        <p:nvSpPr>
          <p:cNvPr id="5" name="Rect 0"/>
          <p:cNvSpPr txBox="1"/>
          <p:nvPr/>
        </p:nvSpPr>
        <p:spPr>
          <a:xfrm>
            <a:off x="1691005" y="463550"/>
            <a:ext cx="12180570" cy="8521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  <a:defRPr/>
            </a:pPr>
            <a:r>
              <a:rPr lang="ko-KR" sz="4800" b="0" i="0" strike="noStrike" spc="-180">
                <a:solidFill>
                  <a:srgbClr val="333333"/>
                </a:solidFill>
                <a:ea typeface="Pretendard Bold"/>
              </a:rPr>
              <a:t>Main_header</a:t>
            </a:r>
            <a:endParaRPr lang="ko-KR" altLang="en-US" sz="4800" b="0" i="0" strike="noStrike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Rect 0"/>
          <p:cNvSpPr txBox="1"/>
          <p:nvPr/>
        </p:nvSpPr>
        <p:spPr>
          <a:xfrm>
            <a:off x="1691005" y="247650"/>
            <a:ext cx="6160770" cy="3187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0" i="0" strike="noStrike">
                <a:solidFill>
                  <a:srgbClr val="b7c5ca"/>
                </a:solidFill>
                <a:latin typeface="Pretendard Medium"/>
              </a:rPr>
              <a:t>메인페이지_header</a:t>
            </a:r>
            <a:endParaRPr lang="ko-KR" altLang="en-US" sz="1800" b="0" i="0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16400" y="0"/>
            <a:ext cx="1372870" cy="1410970"/>
          </a:xfrm>
          <a:prstGeom prst="rect">
            <a:avLst/>
          </a:prstGeom>
          <a:noFill/>
        </p:spPr>
      </p:pic>
      <p:pic>
        <p:nvPicPr>
          <p:cNvPr id="24" name="그림 64" descr="C:/Users/wnscj/AppData/Roaming/PolarisOffice/ETemp/19684_17631904/fImage2019083808467.jpe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014220" y="2324735"/>
            <a:ext cx="7647940" cy="2531745"/>
          </a:xfrm>
          <a:prstGeom prst="rect">
            <a:avLst/>
          </a:prstGeom>
          <a:noFill/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pic>
        <p:nvPicPr>
          <p:cNvPr id="25" name="그림 65" descr="C:/Users/wnscj/AppData/Roaming/PolarisOffice/ETemp/19684_17631904/fImage224403816334.jpe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019935" y="7196455"/>
            <a:ext cx="7633335" cy="1359535"/>
          </a:xfrm>
          <a:prstGeom prst="rect">
            <a:avLst/>
          </a:prstGeom>
          <a:noFill/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pic>
        <p:nvPicPr>
          <p:cNvPr id="26" name="그림 66" descr="C:/Users/wnscj/AppData/Roaming/PolarisOffice/ETemp/19684_17631904/fImage405643826500.jpe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98980" y="5156835"/>
            <a:ext cx="7646035" cy="1245235"/>
          </a:xfrm>
          <a:prstGeom prst="rect">
            <a:avLst/>
          </a:prstGeom>
          <a:noFill/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27" name="텍스트 상자 67"/>
          <p:cNvSpPr txBox="1"/>
          <p:nvPr/>
        </p:nvSpPr>
        <p:spPr>
          <a:xfrm>
            <a:off x="10027920" y="7292340"/>
            <a:ext cx="7784465" cy="1200785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  <a:defRPr/>
            </a:pPr>
            <a:r>
              <a:rPr sz="2400"/>
              <a:t> 네비게이션 메뉴 마우스 </a:t>
            </a:r>
            <a:r>
              <a:rPr lang="ko-KR" sz="2400"/>
              <a:t>호</a:t>
            </a:r>
            <a:r>
              <a:rPr sz="2400"/>
              <a:t>버 시 메뉴 아래에 선 하나가 중간에서 좌우로 펼쳐지듯이 생성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28" name="텍스트 상자 68"/>
          <p:cNvSpPr txBox="1"/>
          <p:nvPr/>
        </p:nvSpPr>
        <p:spPr>
          <a:xfrm>
            <a:off x="10015220" y="5537200"/>
            <a:ext cx="6028690" cy="46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ü"/>
              <a:defRPr/>
            </a:pPr>
            <a:r>
              <a:rPr sz="2400"/>
              <a:t> 헤더 우측 로그인버튼 디자인 및 위치 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29" name="텍스트 상자 69"/>
          <p:cNvSpPr txBox="1"/>
          <p:nvPr/>
        </p:nvSpPr>
        <p:spPr>
          <a:xfrm>
            <a:off x="10001250" y="3359785"/>
            <a:ext cx="5756910" cy="46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buFont typeface="Wingdings"/>
              <a:buChar char="ü"/>
              <a:defRPr/>
            </a:pPr>
            <a:r>
              <a:rPr sz="2400"/>
              <a:t> 좌측 로고 및 </a:t>
            </a:r>
            <a:r>
              <a:rPr lang="ko-KR" sz="2400"/>
              <a:t>내</a:t>
            </a:r>
            <a:r>
              <a:rPr sz="2400"/>
              <a:t>비게이션 메뉴 위치 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30" name="텍스트 상자 74"/>
          <p:cNvSpPr txBox="1"/>
          <p:nvPr/>
        </p:nvSpPr>
        <p:spPr>
          <a:xfrm>
            <a:off x="2041525" y="1617980"/>
            <a:ext cx="2722245" cy="46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r>
              <a:rPr lang="ko-KR" sz="2400">
                <a:latin typeface="맑은 고딕"/>
                <a:ea typeface="맑은 고딕"/>
              </a:rPr>
              <a:t>- </a:t>
            </a:r>
            <a:r>
              <a:rPr sz="2400">
                <a:latin typeface="맑은 고딕"/>
                <a:ea typeface="맑은 고딕"/>
              </a:rPr>
              <a:t>벤치마</a:t>
            </a:r>
            <a:r>
              <a:rPr lang="ko-KR" sz="2400">
                <a:latin typeface="맑은 고딕"/>
                <a:ea typeface="맑은 고딕"/>
              </a:rPr>
              <a:t>킹</a:t>
            </a:r>
            <a:endParaRPr lang="ko-KR" altLang="en-US" sz="2400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62630"/>
            <a:ext cx="7786370" cy="7062470"/>
          </a:xfrm>
          <a:prstGeom prst="rect">
            <a:avLst/>
          </a:prstGeom>
          <a:noFill/>
        </p:spPr>
      </p:pic>
      <p:sp>
        <p:nvSpPr>
          <p:cNvPr id="3" name="Rect 0"/>
          <p:cNvSpPr txBox="1"/>
          <p:nvPr/>
        </p:nvSpPr>
        <p:spPr>
          <a:xfrm>
            <a:off x="17259300" y="9601200"/>
            <a:ext cx="560070" cy="3568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  <a:defRPr/>
            </a:pPr>
            <a:r>
              <a:rPr lang="en-US" sz="2000" b="0" i="0" strike="noStrike">
                <a:solidFill>
                  <a:srgbClr val="333333"/>
                </a:solidFill>
                <a:latin typeface="Pretendard Medium"/>
              </a:rPr>
              <a:t>04</a:t>
            </a:r>
            <a:endParaRPr lang="ko-KR" altLang="en-US" sz="2000" b="0" i="0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5270" cy="1017270"/>
          </a:xfrm>
          <a:prstGeom prst="rect">
            <a:avLst/>
          </a:prstGeom>
          <a:noFill/>
        </p:spPr>
      </p:pic>
      <p:sp>
        <p:nvSpPr>
          <p:cNvPr id="5" name="Rect 0"/>
          <p:cNvSpPr txBox="1"/>
          <p:nvPr/>
        </p:nvSpPr>
        <p:spPr>
          <a:xfrm>
            <a:off x="1691005" y="463550"/>
            <a:ext cx="12180570" cy="8521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  <a:defRPr/>
            </a:pPr>
            <a:r>
              <a:rPr lang="ko-KR" sz="4800" b="0" i="0" strike="noStrike" spc="-180">
                <a:solidFill>
                  <a:srgbClr val="333333"/>
                </a:solidFill>
                <a:ea typeface="Pretendard Bold"/>
              </a:rPr>
              <a:t>Main_header</a:t>
            </a:r>
            <a:endParaRPr lang="ko-KR" altLang="en-US" sz="4800" b="0" i="0" strike="noStrike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Rect 0"/>
          <p:cNvSpPr txBox="1"/>
          <p:nvPr/>
        </p:nvSpPr>
        <p:spPr>
          <a:xfrm>
            <a:off x="1691005" y="247650"/>
            <a:ext cx="6160770" cy="3187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0" i="0" strike="noStrike">
                <a:solidFill>
                  <a:srgbClr val="b7c5ca"/>
                </a:solidFill>
                <a:latin typeface="Pretendard Medium"/>
              </a:rPr>
              <a:t>메인페이지_header</a:t>
            </a:r>
            <a:endParaRPr lang="ko-KR" altLang="en-US" sz="1800" b="0" i="0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16400" y="0"/>
            <a:ext cx="1372870" cy="1410970"/>
          </a:xfrm>
          <a:prstGeom prst="rect">
            <a:avLst/>
          </a:prstGeom>
          <a:noFill/>
        </p:spPr>
      </p:pic>
      <p:pic>
        <p:nvPicPr>
          <p:cNvPr id="17" name="그림 13" descr="C:/Users/wnscj/AppData/Roaming/PolarisOffice/ETemp/19684_17631904/fImage1105043039169.jpe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39945" y="2016760"/>
            <a:ext cx="10060305" cy="2098040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" name="그림 15" descr="C:/Users/wnscj/AppData/Roaming/PolarisOffice/ETemp/19684_17631904/fImage2725653045724.jpe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43755" y="5750560"/>
            <a:ext cx="10060940" cy="2072005"/>
          </a:xfrm>
          <a:prstGeom prst="rect">
            <a:avLst/>
          </a:prstGeom>
          <a:noFill/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텍스트 상자 17"/>
          <p:cNvSpPr txBox="1"/>
          <p:nvPr/>
        </p:nvSpPr>
        <p:spPr>
          <a:xfrm>
            <a:off x="4643120" y="8046720"/>
            <a:ext cx="9645015" cy="1939925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254000" indent="-254000" algn="l" hangingPunct="1">
              <a:lnSpc>
                <a:spcPct val="150000"/>
              </a:lnSpc>
              <a:buClr>
                <a:srgbClr val="000000"/>
              </a:buClr>
              <a:buFont typeface="Wingdings"/>
              <a:buChar char="ü"/>
              <a:defRPr/>
            </a:pPr>
            <a:r>
              <a:rPr lang="ko-KR" sz="2000">
                <a:latin typeface="맑은 고딕"/>
                <a:ea typeface="맑은 고딕"/>
              </a:rPr>
              <a:t>현재 페이지 표시 </a:t>
            </a:r>
            <a:r>
              <a:rPr lang="ko-KR" sz="2000">
                <a:solidFill>
                  <a:schemeClr val="bg1">
                    <a:lumMod val="50000"/>
                    <a:lumOff val="0"/>
                  </a:schemeClr>
                </a:solidFill>
                <a:latin typeface="맑은 고딕"/>
                <a:ea typeface="맑은 고딕"/>
              </a:rPr>
              <a:t>ex) 리뷰 페이지로 이동 시 커뮤니티에 밑줄 표시</a:t>
            </a:r>
            <a:endParaRPr lang="ko-KR" sz="2000">
              <a:solidFill>
                <a:schemeClr val="bg1">
                  <a:lumMod val="50000"/>
                  <a:lumOff val="0"/>
                </a:schemeClr>
              </a:solidFill>
              <a:latin typeface="맑은 고딕"/>
              <a:ea typeface="맑은 고딕"/>
            </a:endParaRPr>
          </a:p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  <a:defRPr/>
            </a:pPr>
            <a:r>
              <a:rPr lang="ko-KR" sz="2000">
                <a:latin typeface="맑은 고딕"/>
                <a:ea typeface="맑은 고딕"/>
              </a:rPr>
              <a:t>로그인 상태에 따른 메뉴 변경 </a:t>
            </a:r>
            <a:endParaRPr lang="ko-KR" sz="2000">
              <a:latin typeface="맑은 고딕"/>
              <a:ea typeface="맑은 고딕"/>
            </a:endParaRPr>
          </a:p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  <a:defRPr/>
            </a:pPr>
            <a:r>
              <a:rPr lang="ko-KR" sz="2000">
                <a:latin typeface="맑은 고딕"/>
                <a:ea typeface="맑은 고딕"/>
              </a:rPr>
              <a:t>스크롤에 따른 </a:t>
            </a:r>
            <a:r>
              <a:rPr lang="ko-KR" sz="2000" b="1">
                <a:latin typeface="맑은 고딕"/>
                <a:ea typeface="맑은 고딕"/>
              </a:rPr>
              <a:t>헤더 숨기기 / 보이기</a:t>
            </a:r>
            <a:endParaRPr lang="ko-KR" sz="2000" b="1">
              <a:latin typeface="맑은 고딕"/>
              <a:ea typeface="맑은 고딕"/>
            </a:endParaRPr>
          </a:p>
          <a:p>
            <a:pPr marL="254000" indent="-254000" algn="l" hangingPunct="1">
              <a:lnSpc>
                <a:spcPct val="150000"/>
              </a:lnSpc>
              <a:buFont typeface="Wingdings"/>
              <a:buChar char="ü"/>
              <a:defRPr/>
            </a:pPr>
            <a:r>
              <a:rPr lang="ko-KR" sz="2000">
                <a:latin typeface="맑은 고딕"/>
                <a:ea typeface="맑은 고딕"/>
              </a:rPr>
              <a:t>메뉴 hover 시 </a:t>
            </a:r>
            <a:r>
              <a:rPr lang="ko-KR" sz="2000" b="1">
                <a:latin typeface="맑은 고딕"/>
                <a:ea typeface="맑은 고딕"/>
              </a:rPr>
              <a:t>delay 애니메이션</a:t>
            </a:r>
            <a:endParaRPr lang="ko-KR" altLang="en-US" sz="2000">
              <a:latin typeface="맑은 고딕"/>
              <a:ea typeface="맑은 고딕"/>
            </a:endParaRPr>
          </a:p>
        </p:txBody>
      </p:sp>
      <p:sp>
        <p:nvSpPr>
          <p:cNvPr id="20" name="텍스트 상자 19"/>
          <p:cNvSpPr txBox="1"/>
          <p:nvPr/>
        </p:nvSpPr>
        <p:spPr>
          <a:xfrm>
            <a:off x="2726055" y="2012315"/>
            <a:ext cx="1679575" cy="46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r>
              <a:rPr lang="ko-KR" sz="2400">
                <a:latin typeface="맑은 고딕"/>
                <a:ea typeface="맑은 고딕"/>
              </a:rPr>
              <a:t>WireFrame</a:t>
            </a:r>
            <a:endParaRPr lang="ko-KR" altLang="en-US" sz="2400">
              <a:latin typeface="맑은 고딕"/>
              <a:ea typeface="맑은 고딕"/>
            </a:endParaRPr>
          </a:p>
        </p:txBody>
      </p:sp>
      <p:sp>
        <p:nvSpPr>
          <p:cNvPr id="21" name="텍스트 상자 20"/>
          <p:cNvSpPr txBox="1"/>
          <p:nvPr/>
        </p:nvSpPr>
        <p:spPr>
          <a:xfrm>
            <a:off x="3249930" y="4547870"/>
            <a:ext cx="1155700" cy="46228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r>
              <a:rPr sz="2400">
                <a:latin typeface="맑은 고딕"/>
                <a:ea typeface="맑은 고딕"/>
              </a:rPr>
              <a:t>Design</a:t>
            </a:r>
            <a:endParaRPr lang="ko-KR" altLang="en-US" sz="2400">
              <a:latin typeface="맑은 고딕"/>
              <a:ea typeface="맑은 고딕"/>
            </a:endParaRPr>
          </a:p>
        </p:txBody>
      </p:sp>
      <p:pic>
        <p:nvPicPr>
          <p:cNvPr id="22" name="그림 21" descr="C:/Users/wnscj/AppData/Roaming/PolarisOffice/ETemp/19684_17631904/fImage1367893091478.jpe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43755" y="4535805"/>
            <a:ext cx="10108565" cy="104711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62630"/>
            <a:ext cx="7786370" cy="7062470"/>
          </a:xfrm>
          <a:prstGeom prst="rect">
            <a:avLst/>
          </a:prstGeom>
          <a:noFill/>
        </p:spPr>
      </p:pic>
      <p:sp>
        <p:nvSpPr>
          <p:cNvPr id="22" name="도형 43"/>
          <p:cNvSpPr/>
          <p:nvPr/>
        </p:nvSpPr>
        <p:spPr>
          <a:xfrm>
            <a:off x="9483725" y="2543810"/>
            <a:ext cx="5228590" cy="4161790"/>
          </a:xfrm>
          <a:prstGeom prst="roundRect">
            <a:avLst>
              <a:gd name="adj" fmla="val 16667"/>
            </a:avLst>
          </a:prstGeom>
          <a:solidFill>
            <a:srgbClr val="21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sp>
        <p:nvSpPr>
          <p:cNvPr id="23" name="도형 44"/>
          <p:cNvSpPr/>
          <p:nvPr/>
        </p:nvSpPr>
        <p:spPr>
          <a:xfrm>
            <a:off x="7470775" y="5918200"/>
            <a:ext cx="5184775" cy="4150995"/>
          </a:xfrm>
          <a:prstGeom prst="roundRect">
            <a:avLst>
              <a:gd name="adj" fmla="val 16667"/>
            </a:avLst>
          </a:prstGeom>
          <a:solidFill>
            <a:srgbClr val="21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sp>
        <p:nvSpPr>
          <p:cNvPr id="24" name="도형 45"/>
          <p:cNvSpPr/>
          <p:nvPr/>
        </p:nvSpPr>
        <p:spPr>
          <a:xfrm>
            <a:off x="12096115" y="5918200"/>
            <a:ext cx="5185410" cy="4150995"/>
          </a:xfrm>
          <a:prstGeom prst="roundRect">
            <a:avLst>
              <a:gd name="adj" fmla="val 16667"/>
            </a:avLst>
          </a:prstGeom>
          <a:solidFill>
            <a:srgbClr val="2124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sp>
        <p:nvSpPr>
          <p:cNvPr id="21" name="도형 39"/>
          <p:cNvSpPr/>
          <p:nvPr/>
        </p:nvSpPr>
        <p:spPr>
          <a:xfrm>
            <a:off x="1008380" y="2548890"/>
            <a:ext cx="5680075" cy="4822825"/>
          </a:xfrm>
          <a:prstGeom prst="roundRect">
            <a:avLst>
              <a:gd name="adj" fmla="val 16667"/>
            </a:avLst>
          </a:prstGeom>
          <a:solidFill>
            <a:srgbClr val="171a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>
              <a:defRPr/>
            </a:pPr>
            <a:endParaRPr lang="ko-KR" altLang="en-US" sz="1800">
              <a:latin typeface="맑은 고딕"/>
              <a:ea typeface="맑은 고딕"/>
            </a:endParaRPr>
          </a:p>
        </p:txBody>
      </p:sp>
      <p:sp>
        <p:nvSpPr>
          <p:cNvPr id="3" name="Rect 0"/>
          <p:cNvSpPr txBox="1"/>
          <p:nvPr/>
        </p:nvSpPr>
        <p:spPr>
          <a:xfrm>
            <a:off x="17259300" y="9601200"/>
            <a:ext cx="560070" cy="3568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  <a:defRPr/>
            </a:pPr>
            <a:r>
              <a:rPr lang="en-US" sz="2000" b="0" i="0" strike="noStrike">
                <a:solidFill>
                  <a:srgbClr val="333333"/>
                </a:solidFill>
                <a:latin typeface="Pretendard Medium"/>
              </a:rPr>
              <a:t>04</a:t>
            </a:r>
            <a:endParaRPr lang="ko-KR" altLang="en-US" sz="2000" b="0" i="0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5270" cy="1017270"/>
          </a:xfrm>
          <a:prstGeom prst="rect">
            <a:avLst/>
          </a:prstGeom>
          <a:noFill/>
        </p:spPr>
      </p:pic>
      <p:sp>
        <p:nvSpPr>
          <p:cNvPr id="5" name="Rect 0"/>
          <p:cNvSpPr txBox="1"/>
          <p:nvPr/>
        </p:nvSpPr>
        <p:spPr>
          <a:xfrm>
            <a:off x="1691005" y="463550"/>
            <a:ext cx="12180570" cy="8521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  <a:defRPr/>
            </a:pPr>
            <a:r>
              <a:rPr lang="ko-KR" sz="4800" b="0" i="0" strike="noStrike" spc="-180">
                <a:solidFill>
                  <a:srgbClr val="333333"/>
                </a:solidFill>
                <a:ea typeface="Pretendard Bold"/>
              </a:rPr>
              <a:t>Main_header</a:t>
            </a:r>
            <a:endParaRPr lang="ko-KR" altLang="en-US" sz="4800" b="0" i="0" strike="noStrike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Rect 0"/>
          <p:cNvSpPr txBox="1"/>
          <p:nvPr/>
        </p:nvSpPr>
        <p:spPr>
          <a:xfrm>
            <a:off x="1691005" y="247650"/>
            <a:ext cx="6160770" cy="3187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0" i="0" strike="noStrike">
                <a:solidFill>
                  <a:srgbClr val="b7c5ca"/>
                </a:solidFill>
                <a:latin typeface="Pretendard Medium"/>
              </a:rPr>
              <a:t>서브페이지_login</a:t>
            </a:r>
            <a:endParaRPr lang="ko-KR" altLang="en-US" sz="1800" b="0" i="0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16400" y="0"/>
            <a:ext cx="1372870" cy="1410970"/>
          </a:xfrm>
          <a:prstGeom prst="rect">
            <a:avLst/>
          </a:prstGeom>
          <a:noFill/>
        </p:spPr>
      </p:pic>
      <p:pic>
        <p:nvPicPr>
          <p:cNvPr id="17" name="그림 22" descr="C:/Users/wnscj/AppData/Roaming/PolarisOffice/ETemp/19684_17631904/fImage4320583239358.jpe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330960" y="2905760"/>
            <a:ext cx="5036185" cy="4108450"/>
          </a:xfrm>
          <a:prstGeom prst="rect">
            <a:avLst/>
          </a:prstGeom>
          <a:noFill/>
        </p:spPr>
      </p:pic>
      <p:pic>
        <p:nvPicPr>
          <p:cNvPr id="20" name="그림 26" descr="C:/Users/wnscj/AppData/Roaming/PolarisOffice/ETemp/19684_17631904/fImage589953276962.jpe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611995" y="2950210"/>
            <a:ext cx="4816475" cy="3314700"/>
          </a:xfrm>
          <a:prstGeom prst="rect">
            <a:avLst/>
          </a:prstGeom>
          <a:noFill/>
        </p:spPr>
      </p:pic>
      <p:pic>
        <p:nvPicPr>
          <p:cNvPr id="19" name="그림 25" descr="C:/Users/wnscj/AppData/Roaming/PolarisOffice/ETemp/19684_17631904/fImage727473264464.jpe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225790" y="6173470"/>
            <a:ext cx="4051935" cy="3661410"/>
          </a:xfrm>
          <a:prstGeom prst="rect">
            <a:avLst/>
          </a:prstGeom>
          <a:noFill/>
        </p:spPr>
      </p:pic>
      <p:pic>
        <p:nvPicPr>
          <p:cNvPr id="18" name="그림 24" descr="C:/Users/wnscj/AppData/Roaming/PolarisOffice/ETemp/19684_17631904/fImage452873255705.jpe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706985" y="6139815"/>
            <a:ext cx="3787775" cy="3651250"/>
          </a:xfrm>
          <a:prstGeom prst="rect">
            <a:avLst/>
          </a:prstGeom>
          <a:noFill/>
        </p:spPr>
      </p:pic>
      <p:sp>
        <p:nvSpPr>
          <p:cNvPr id="25" name="텍스트 상자 62"/>
          <p:cNvSpPr txBox="1"/>
          <p:nvPr/>
        </p:nvSpPr>
        <p:spPr>
          <a:xfrm>
            <a:off x="2626995" y="1904365"/>
            <a:ext cx="2422525" cy="43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r>
              <a:rPr lang="ko-KR" sz="2200">
                <a:latin typeface="맑은 고딕"/>
                <a:ea typeface="맑은 고딕"/>
              </a:rPr>
              <a:t>기존 login 페이지</a:t>
            </a:r>
            <a:endParaRPr lang="ko-KR" altLang="en-US" sz="2200">
              <a:latin typeface="맑은 고딕"/>
              <a:ea typeface="맑은 고딕"/>
            </a:endParaRPr>
          </a:p>
        </p:txBody>
      </p:sp>
      <p:sp>
        <p:nvSpPr>
          <p:cNvPr id="26" name="텍스트 상자 63"/>
          <p:cNvSpPr txBox="1"/>
          <p:nvPr/>
        </p:nvSpPr>
        <p:spPr>
          <a:xfrm>
            <a:off x="10885805" y="1891030"/>
            <a:ext cx="2980690" cy="43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>
              <a:defRPr/>
            </a:pPr>
            <a:r>
              <a:rPr lang="ko-KR" sz="2200">
                <a:latin typeface="맑은 고딕"/>
                <a:ea typeface="맑은 고딕"/>
              </a:rPr>
              <a:t>기존 sign_up 페이지</a:t>
            </a:r>
            <a:endParaRPr lang="ko-KR" altLang="en-US" sz="2200"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 descr="C:/Users/wnscj/AppData/Roaming/PolarisOffice/ETemp/19684_17631904/image22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62630"/>
            <a:ext cx="7786370" cy="7062470"/>
          </a:xfrm>
          <a:prstGeom prst="rect">
            <a:avLst/>
          </a:prstGeom>
          <a:noFill/>
        </p:spPr>
      </p:pic>
      <p:sp>
        <p:nvSpPr>
          <p:cNvPr id="3" name="Rect 0"/>
          <p:cNvSpPr txBox="1"/>
          <p:nvPr/>
        </p:nvSpPr>
        <p:spPr>
          <a:xfrm>
            <a:off x="17259300" y="9601200"/>
            <a:ext cx="560070" cy="3568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  <a:defRPr/>
            </a:pPr>
            <a:r>
              <a:rPr lang="en-US" sz="2000" b="0" i="0" strike="noStrike">
                <a:solidFill>
                  <a:srgbClr val="333333"/>
                </a:solidFill>
                <a:latin typeface="Pretendard Medium"/>
              </a:rPr>
              <a:t>04</a:t>
            </a:r>
            <a:endParaRPr lang="ko-KR" altLang="en-US" sz="2000" b="0" i="0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" descr="C:/Users/wnscj/AppData/Roaming/PolarisOffice/ETemp/19684_17631904/image23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5270" cy="1017270"/>
          </a:xfrm>
          <a:prstGeom prst="rect">
            <a:avLst/>
          </a:prstGeom>
          <a:noFill/>
        </p:spPr>
      </p:pic>
      <p:sp>
        <p:nvSpPr>
          <p:cNvPr id="5" name="Rect 0"/>
          <p:cNvSpPr txBox="1"/>
          <p:nvPr/>
        </p:nvSpPr>
        <p:spPr>
          <a:xfrm>
            <a:off x="1691005" y="463550"/>
            <a:ext cx="12180570" cy="8521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  <a:defRPr/>
            </a:pPr>
            <a:r>
              <a:rPr lang="ko-KR" sz="4800" b="0" i="0" strike="noStrike" spc="-180">
                <a:solidFill>
                  <a:srgbClr val="333333"/>
                </a:solidFill>
                <a:ea typeface="Pretendard Bold"/>
              </a:rPr>
              <a:t>Login / sign_up</a:t>
            </a:r>
            <a:endParaRPr lang="ko-KR" altLang="en-US" sz="4800" b="0" i="0" strike="noStrike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Rect 0"/>
          <p:cNvSpPr txBox="1"/>
          <p:nvPr/>
        </p:nvSpPr>
        <p:spPr>
          <a:xfrm>
            <a:off x="1691005" y="247650"/>
            <a:ext cx="6160770" cy="318770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0" i="0" strike="noStrike">
                <a:solidFill>
                  <a:srgbClr val="b7c5ca"/>
                </a:solidFill>
                <a:latin typeface="Pretendard Medium"/>
              </a:rPr>
              <a:t>서브페이지_login / sign_up</a:t>
            </a:r>
            <a:endParaRPr lang="ko-KR" altLang="en-US" sz="1800" b="0" i="0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16" name="Picture " descr="C:/Users/wnscj/AppData/Roaming/PolarisOffice/ETemp/19684_17631904/image24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916400" y="0"/>
            <a:ext cx="1372870" cy="141097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16200000">
            <a:off x="-482600" y="1676400"/>
            <a:ext cx="7912100" cy="9537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4000" cy="10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322300" y="0"/>
            <a:ext cx="4965700" cy="10287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59300" y="9601200"/>
            <a:ext cx="5588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Medium"/>
              </a:rPr>
              <a:t>0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Medium"/>
              </a:rPr>
              <a:t>6</a:t>
            </a:r>
            <a:endParaRPr lang="en-US" altLang="ko-KR" sz="2000" b="0" i="0" u="none" strike="noStrike">
              <a:solidFill>
                <a:srgbClr val="ffffff"/>
              </a:solidFill>
              <a:latin typeface="Pretendard Medium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87400" y="4013200"/>
            <a:ext cx="558800" cy="406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547100" y="1295400"/>
            <a:ext cx="9740900" cy="9271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25600" y="800100"/>
            <a:ext cx="7518400" cy="850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1300"/>
              </a:lnSpc>
              <a:defRPr/>
            </a:pP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디자인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시안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구성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및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포인트</a:t>
            </a:r>
            <a:endParaRPr lang="ko-KR" sz="4800" b="0" i="0" u="none" strike="noStrike" spc="-200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76400" y="558800"/>
            <a:ext cx="79121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03.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웹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디자인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시안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및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웹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디자인의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포인트는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어떻게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구성되어있는가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.</a:t>
            </a:r>
            <a:endParaRPr lang="en-US" sz="1800" b="0" i="0" u="none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176500" y="3670300"/>
            <a:ext cx="660400" cy="660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5278100" y="3797300"/>
            <a:ext cx="4445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 spc="-100">
                <a:solidFill>
                  <a:srgbClr val="ffffff"/>
                </a:solidFill>
                <a:latin typeface="Hallym Gothic Regular"/>
              </a:rPr>
              <a:t>1</a:t>
            </a:r>
            <a:endParaRPr lang="en-US" sz="2400" b="0" i="0" u="none" strike="noStrike" spc="-100">
              <a:solidFill>
                <a:srgbClr val="ffffff"/>
              </a:solidFill>
              <a:latin typeface="Hallym Gothic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496300" y="3949700"/>
            <a:ext cx="6324600" cy="3937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07899"/>
              </a:lnSpc>
              <a:defRPr/>
            </a:pP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ADOBE AI 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사이트를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이용한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배경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이미지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추출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lvl="0" algn="r">
              <a:lnSpc>
                <a:spcPct val="107899"/>
              </a:lnSpc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제작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588500" y="1460500"/>
            <a:ext cx="77216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ffffff"/>
                </a:solidFill>
                <a:ea typeface="Pretendard Medium"/>
              </a:rPr>
              <a:t>리모델링</a:t>
            </a: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ffffff"/>
                </a:solidFill>
                <a:ea typeface="Pretendard Medium"/>
              </a:rPr>
              <a:t>한</a:t>
            </a: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</a:rPr>
              <a:t> 'STEAM' </a:t>
            </a:r>
            <a:r>
              <a:rPr lang="ko-KR" sz="3200" b="0" i="0" u="none" strike="noStrike">
                <a:solidFill>
                  <a:srgbClr val="ffffff"/>
                </a:solidFill>
                <a:ea typeface="Pretendard Medium"/>
              </a:rPr>
              <a:t>사이트의</a:t>
            </a: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ffffff"/>
                </a:solidFill>
                <a:ea typeface="Pretendard Medium"/>
              </a:rPr>
              <a:t>특징</a:t>
            </a:r>
            <a:endParaRPr lang="ko-KR" sz="3200" b="0" i="0" u="none" strike="noStrike">
              <a:solidFill>
                <a:srgbClr val="ffffff"/>
              </a:solidFill>
              <a:ea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27200" y="4622800"/>
            <a:ext cx="4051300" cy="3733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36950"/>
              </a:lnSpc>
              <a:defRPr/>
            </a:pP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CONCEPT</a:t>
            </a:r>
            <a:endParaRPr lang="en-US" sz="2600" b="0" i="0" u="none" strike="noStrike" spc="-100">
              <a:solidFill>
                <a:srgbClr val="ffffff"/>
              </a:solidFill>
              <a:latin typeface="Pretendard Light"/>
            </a:endParaRPr>
          </a:p>
          <a:p>
            <a:pPr lvl="0" algn="l">
              <a:lnSpc>
                <a:spcPct val="136950"/>
              </a:lnSpc>
              <a:defRPr/>
            </a:pP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-</a:t>
            </a:r>
            <a:r>
              <a:rPr lang="ko-KR" sz="2600" b="0" i="0" u="none" strike="noStrike" spc="-100">
                <a:solidFill>
                  <a:srgbClr val="ffffff"/>
                </a:solidFill>
                <a:ea typeface="Pretendard Light"/>
              </a:rPr>
              <a:t>미래지향적</a:t>
            </a: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, </a:t>
            </a:r>
            <a:r>
              <a:rPr lang="ko-KR" sz="2600" b="0" i="0" u="none" strike="noStrike" spc="-100">
                <a:solidFill>
                  <a:srgbClr val="ffffff"/>
                </a:solidFill>
                <a:ea typeface="Pretendard Light"/>
              </a:rPr>
              <a:t>사이버틱</a:t>
            </a: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 </a:t>
            </a:r>
            <a:r>
              <a:rPr lang="ko-KR" sz="2600" b="0" i="0" u="none" strike="noStrike" spc="-100">
                <a:solidFill>
                  <a:srgbClr val="ffffff"/>
                </a:solidFill>
                <a:ea typeface="Pretendard Light"/>
              </a:rPr>
              <a:t>요소</a:t>
            </a:r>
            <a:endParaRPr lang="ko-KR" sz="2600" b="0" i="0" u="none" strike="noStrike" spc="-100">
              <a:solidFill>
                <a:srgbClr val="ffffff"/>
              </a:solidFill>
              <a:ea typeface="Pretendard Light"/>
            </a:endParaRPr>
          </a:p>
          <a:p>
            <a:pPr lvl="0" algn="l">
              <a:lnSpc>
                <a:spcPct val="136950"/>
              </a:lnSpc>
              <a:defRPr/>
            </a:pPr>
            <a:endParaRPr lang="en-US" sz="2600" b="0" i="0" u="none" strike="noStrike" spc="-100">
              <a:solidFill>
                <a:srgbClr val="ffffff"/>
              </a:solidFill>
              <a:latin typeface="Pretendard Light"/>
              <a:ea typeface="Pretendard Light"/>
            </a:endParaRPr>
          </a:p>
          <a:p>
            <a:pPr lvl="0" algn="l">
              <a:lnSpc>
                <a:spcPct val="136950"/>
              </a:lnSpc>
              <a:defRPr/>
            </a:pP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SITE COLOR</a:t>
            </a:r>
            <a:endParaRPr lang="en-US" sz="2600" b="0" i="0" u="none" strike="noStrike" spc="-100">
              <a:solidFill>
                <a:srgbClr val="ffffff"/>
              </a:solidFill>
              <a:latin typeface="Pretendard Light"/>
            </a:endParaRPr>
          </a:p>
          <a:p>
            <a:pPr lvl="0" algn="l">
              <a:lnSpc>
                <a:spcPct val="136950"/>
              </a:lnSpc>
              <a:defRPr/>
            </a:pP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MAIN: </a:t>
            </a:r>
            <a:r>
              <a:rPr lang="ko-KR" sz="2600" b="0" i="0" u="none" strike="noStrike" spc="-100">
                <a:solidFill>
                  <a:srgbClr val="ffffff"/>
                </a:solidFill>
                <a:ea typeface="Pretendard Light"/>
              </a:rPr>
              <a:t>보라</a:t>
            </a:r>
            <a:endParaRPr lang="ko-KR" sz="2600" b="0" i="0" u="none" strike="noStrike" spc="-100">
              <a:solidFill>
                <a:srgbClr val="ffffff"/>
              </a:solidFill>
              <a:ea typeface="Pretendard Light"/>
            </a:endParaRPr>
          </a:p>
          <a:p>
            <a:pPr lvl="0" algn="l">
              <a:lnSpc>
                <a:spcPct val="136950"/>
              </a:lnSpc>
              <a:defRPr/>
            </a:pP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SUB: </a:t>
            </a:r>
            <a:r>
              <a:rPr lang="ko-KR" sz="2600" b="0" i="0" u="none" strike="noStrike" spc="-100">
                <a:solidFill>
                  <a:srgbClr val="ffffff"/>
                </a:solidFill>
                <a:ea typeface="Pretendard Light"/>
              </a:rPr>
              <a:t>남색</a:t>
            </a:r>
            <a:endParaRPr lang="ko-KR" sz="2600" b="0" i="0" u="none" strike="noStrike" spc="-100">
              <a:solidFill>
                <a:srgbClr val="ffffff"/>
              </a:solidFill>
              <a:ea typeface="Pretendard Light"/>
            </a:endParaRPr>
          </a:p>
          <a:p>
            <a:pPr lvl="0" algn="l">
              <a:lnSpc>
                <a:spcPct val="136950"/>
              </a:lnSpc>
              <a:defRPr/>
            </a:pPr>
            <a:r>
              <a:rPr lang="en-US" sz="2600" b="0" i="0" u="none" strike="noStrike" spc="-100">
                <a:solidFill>
                  <a:srgbClr val="ffffff"/>
                </a:solidFill>
                <a:latin typeface="Pretendard Light"/>
              </a:rPr>
              <a:t>POINT: </a:t>
            </a:r>
            <a:r>
              <a:rPr lang="ko-KR" sz="2600" b="0" i="0" u="none" strike="noStrike" spc="-100">
                <a:solidFill>
                  <a:srgbClr val="ffffff"/>
                </a:solidFill>
                <a:ea typeface="Pretendard Light"/>
              </a:rPr>
              <a:t>검정</a:t>
            </a:r>
            <a:endParaRPr lang="ko-KR" sz="2600" b="0" i="0" u="none" strike="noStrike" spc="-100">
              <a:solidFill>
                <a:srgbClr val="ffffff"/>
              </a:solidFill>
              <a:ea typeface="Pretendard Light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4376400" y="5956300"/>
            <a:ext cx="660400" cy="660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490700" y="6096000"/>
            <a:ext cx="4445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 spc="-100">
                <a:solidFill>
                  <a:srgbClr val="ffffff"/>
                </a:solidFill>
                <a:latin typeface="Hallym Gothic Regular"/>
              </a:rPr>
              <a:t>2</a:t>
            </a:r>
            <a:endParaRPr lang="en-US" sz="2400" b="0" i="0" u="none" strike="noStrike" spc="-100">
              <a:solidFill>
                <a:srgbClr val="ffffff"/>
              </a:solidFill>
              <a:latin typeface="Hallym Gothic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077200" y="6045200"/>
            <a:ext cx="5867400" cy="749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07899"/>
              </a:lnSpc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사이트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배경에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도형을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덧대고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,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투명도를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60%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로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하여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배경의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쩅한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느낌을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조금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죽여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가독성을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lvl="0" algn="r">
              <a:lnSpc>
                <a:spcPct val="107899"/>
              </a:lnSpc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높임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639800" y="8115300"/>
            <a:ext cx="660400" cy="66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054600" y="8585200"/>
            <a:ext cx="558800" cy="406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3741400" y="8255000"/>
            <a:ext cx="444500" cy="4191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ctr">
              <a:lnSpc>
                <a:spcPct val="99600"/>
              </a:lnSpc>
              <a:defRPr/>
            </a:pPr>
            <a:r>
              <a:rPr lang="en-US" sz="2400" b="0" i="0" u="none" strike="noStrike" spc="-100">
                <a:solidFill>
                  <a:srgbClr val="ffffff"/>
                </a:solidFill>
                <a:latin typeface="Hallym Gothic Regular"/>
              </a:rPr>
              <a:t>3</a:t>
            </a:r>
            <a:endParaRPr lang="en-US" sz="2400" b="0" i="0" u="none" strike="noStrike" spc="-100">
              <a:solidFill>
                <a:srgbClr val="ffffff"/>
              </a:solidFill>
              <a:latin typeface="Hallym Gothic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467600" y="8051800"/>
            <a:ext cx="5867400" cy="7493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107899"/>
              </a:lnSpc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내비게이션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바가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한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눈에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들어올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수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있도록</a:t>
            </a:r>
            <a:r>
              <a:rPr lang="en-US" sz="22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  <a:p>
            <a:pPr lvl="0" algn="r">
              <a:lnSpc>
                <a:spcPct val="107899"/>
              </a:lnSpc>
              <a:defRPr/>
            </a:pP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큼지막하게</a:t>
            </a:r>
            <a:r>
              <a:rPr lang="ko-KR" altLang="en-US" sz="2200" b="0" i="0" u="none" strike="noStrike">
                <a:solidFill>
                  <a:srgbClr val="333333"/>
                </a:solidFill>
                <a:ea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디자인</a:t>
            </a:r>
            <a:r>
              <a:rPr lang="ko-KR" altLang="en-US" sz="2200" b="0" i="0" u="none" strike="noStrike">
                <a:solidFill>
                  <a:srgbClr val="333333"/>
                </a:solidFill>
                <a:ea typeface="Pretendard Light"/>
              </a:rPr>
              <a:t> </a:t>
            </a:r>
            <a:r>
              <a:rPr lang="ko-KR" sz="2200" b="0" i="0" u="none" strike="noStrike">
                <a:solidFill>
                  <a:srgbClr val="333333"/>
                </a:solidFill>
                <a:ea typeface="Pretendard Light"/>
              </a:rPr>
              <a:t>하였음</a:t>
            </a:r>
            <a:endParaRPr lang="ko-KR" sz="2200" b="0" i="0" u="none" strike="noStrike">
              <a:solidFill>
                <a:srgbClr val="333333"/>
              </a:solidFill>
              <a:ea typeface="Pretendar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57277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988300"/>
            <a:ext cx="2044700" cy="231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480300" y="1473200"/>
            <a:ext cx="6794500" cy="850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1300"/>
              </a:lnSpc>
              <a:defRPr/>
            </a:pP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향후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계획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u="none" strike="noStrike" spc="-200">
                <a:solidFill>
                  <a:srgbClr val="333333"/>
                </a:solidFill>
                <a:ea typeface="Pretendard Bold"/>
              </a:rPr>
              <a:t>및</a:t>
            </a:r>
            <a:r>
              <a:rPr lang="en-US" sz="4800" b="0" i="0" u="none" strike="noStrike" spc="-200">
                <a:solidFill>
                  <a:srgbClr val="333333"/>
                </a:solidFill>
                <a:latin typeface="Pretendard Bold"/>
              </a:rPr>
              <a:t> QNA</a:t>
            </a:r>
            <a:endParaRPr lang="en-US" sz="4800" b="0" i="0" u="none" strike="noStrike" spc="-200">
              <a:solidFill>
                <a:srgbClr val="333333"/>
              </a:solidFill>
              <a:latin typeface="Pretendar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531100" y="1219200"/>
            <a:ext cx="6261100" cy="317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04.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향후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어떻게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해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나갈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것인지와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그에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관련한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u="none" strike="noStrike">
                <a:solidFill>
                  <a:srgbClr val="b7c5ca"/>
                </a:solidFill>
                <a:ea typeface="Pretendard Medium"/>
              </a:rPr>
              <a:t>질의응답</a:t>
            </a:r>
            <a:r>
              <a:rPr lang="en-US" sz="1800" b="0" i="0" u="none" strike="noStrike">
                <a:solidFill>
                  <a:srgbClr val="b7c5ca"/>
                </a:solidFill>
                <a:latin typeface="Pretendard Medium"/>
              </a:rPr>
              <a:t>.</a:t>
            </a:r>
            <a:endParaRPr lang="en-US" sz="1800" b="0" i="0" u="none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30800" y="3352800"/>
            <a:ext cx="11379200" cy="927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454900" y="3517900"/>
            <a:ext cx="7251700" cy="571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3200" b="0" i="0" u="none" strike="noStrike">
                <a:solidFill>
                  <a:srgbClr val="ffffff"/>
                </a:solidFill>
                <a:ea typeface="Pretendard Medium"/>
              </a:rPr>
              <a:t>앞으로의</a:t>
            </a: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ko-KR" sz="3200" b="0" i="0" u="none" strike="noStrike">
                <a:solidFill>
                  <a:srgbClr val="ffffff"/>
                </a:solidFill>
                <a:ea typeface="Pretendard Medium"/>
              </a:rPr>
              <a:t>계획</a:t>
            </a:r>
            <a:r>
              <a:rPr lang="en-US" sz="3200" b="0" i="0" u="none" strike="noStrike">
                <a:solidFill>
                  <a:srgbClr val="ffffff"/>
                </a:solidFill>
                <a:latin typeface="Pretendard Medium"/>
              </a:rPr>
              <a:t>?</a:t>
            </a:r>
            <a:endParaRPr lang="en-US" sz="3200" b="0" i="0" u="none" strike="noStrike">
              <a:solidFill>
                <a:srgbClr val="ffffff"/>
              </a:solidFill>
              <a:latin typeface="Pretendard Medium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27700" y="0"/>
            <a:ext cx="15240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916400" y="0"/>
            <a:ext cx="1371600" cy="140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480300" y="5041900"/>
            <a:ext cx="419100" cy="35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480300" y="6489700"/>
            <a:ext cx="419100" cy="355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480300" y="7874000"/>
            <a:ext cx="419100" cy="3556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8153400" y="5118100"/>
            <a:ext cx="9131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7899"/>
              </a:lnSpc>
              <a:defRPr/>
            </a:pP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메인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서브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시안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제작을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최종적으로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완성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 </a:t>
            </a:r>
            <a:endParaRPr lang="en-US" sz="2400" b="0" i="0" u="none" strike="noStrike">
              <a:solidFill>
                <a:srgbClr val="333333"/>
              </a:solidFill>
              <a:latin typeface="Pretendard Ligh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153400" y="6604000"/>
            <a:ext cx="91313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7899"/>
              </a:lnSpc>
              <a:defRPr/>
            </a:pP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'VSCODE'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를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사용하여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코딩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반응형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웹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페이지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제작</a:t>
            </a:r>
            <a:endParaRPr lang="ko-KR" sz="2400" b="0" i="0" u="none" strike="noStrike">
              <a:solidFill>
                <a:srgbClr val="333333"/>
              </a:solidFill>
              <a:ea typeface="Pretendard Ligh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153400" y="7975600"/>
            <a:ext cx="9042400" cy="4318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107899"/>
              </a:lnSpc>
              <a:defRPr/>
            </a:pP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조금씩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수정해나가며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완성도를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더욱</a:t>
            </a:r>
            <a:r>
              <a:rPr lang="en-US" sz="2400" b="0" i="0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400" b="0" i="0" u="none" strike="noStrike">
                <a:solidFill>
                  <a:srgbClr val="333333"/>
                </a:solidFill>
                <a:ea typeface="Pretendard Light"/>
              </a:rPr>
              <a:t>높임</a:t>
            </a:r>
            <a:endParaRPr lang="ko-KR" sz="2400" b="0" i="0" u="none" strike="noStrike">
              <a:solidFill>
                <a:srgbClr val="333333"/>
              </a:solidFill>
              <a:ea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437100" y="9575800"/>
            <a:ext cx="381000" cy="355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333333"/>
                </a:solidFill>
                <a:latin typeface="Pretendard Medium"/>
              </a:rPr>
              <a:t>0</a:t>
            </a:r>
            <a:r>
              <a:rPr lang="en-US" altLang="ko-KR" sz="2000" b="0" i="0" u="none" strike="noStrike">
                <a:solidFill>
                  <a:srgbClr val="333333"/>
                </a:solidFill>
                <a:latin typeface="Pretendard Medium"/>
              </a:rPr>
              <a:t>7</a:t>
            </a:r>
            <a:endParaRPr lang="en-US" altLang="ko-KR" sz="2000" b="0" i="0" u="none" strike="noStrike">
              <a:solidFill>
                <a:srgbClr val="333333"/>
              </a:solidFill>
              <a:latin typeface="Pretendard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3136900" y="3238500"/>
            <a:ext cx="7785735" cy="7061835"/>
          </a:xfrm>
          <a:prstGeom prst="rect">
            <a:avLst/>
          </a:prstGeom>
          <a:noFill/>
        </p:spPr>
      </p:pic>
      <p:sp>
        <p:nvSpPr>
          <p:cNvPr id="3" name="Rect 0"/>
          <p:cNvSpPr txBox="1"/>
          <p:nvPr/>
        </p:nvSpPr>
        <p:spPr>
          <a:xfrm>
            <a:off x="17259300" y="9601200"/>
            <a:ext cx="559435" cy="3562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r">
              <a:lnSpc>
                <a:spcPct val="99600"/>
              </a:lnSpc>
              <a:buFontTx/>
              <a:buNone/>
              <a:defRPr/>
            </a:pPr>
            <a:r>
              <a:rPr lang="en-US" sz="2000" b="0" i="0" strike="noStrike">
                <a:solidFill>
                  <a:srgbClr val="333333"/>
                </a:solidFill>
                <a:latin typeface="Pretendard Medium"/>
              </a:rPr>
              <a:t>0</a:t>
            </a:r>
            <a:r>
              <a:rPr lang="en-US" altLang="ko-KR" sz="2000" b="0" i="0" strike="noStrike">
                <a:solidFill>
                  <a:srgbClr val="333333"/>
                </a:solidFill>
                <a:latin typeface="Pretendard Medium"/>
              </a:rPr>
              <a:t>8</a:t>
            </a:r>
            <a:endParaRPr lang="en-US" altLang="ko-KR" sz="2000" b="0" i="0" strike="noStrike">
              <a:solidFill>
                <a:srgbClr val="333333"/>
              </a:solidFill>
              <a:latin typeface="Pretendard Medium"/>
            </a:endParaRPr>
          </a:p>
        </p:txBody>
      </p:sp>
      <p:pic>
        <p:nvPicPr>
          <p:cNvPr id="4" name="Picture 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2700" y="0"/>
            <a:ext cx="1524635" cy="1016635"/>
          </a:xfrm>
          <a:prstGeom prst="rect">
            <a:avLst/>
          </a:prstGeom>
          <a:noFill/>
        </p:spPr>
      </p:pic>
      <p:sp>
        <p:nvSpPr>
          <p:cNvPr id="5" name="Rect 0"/>
          <p:cNvSpPr txBox="1"/>
          <p:nvPr/>
        </p:nvSpPr>
        <p:spPr>
          <a:xfrm>
            <a:off x="1727200" y="901700"/>
            <a:ext cx="12179935" cy="8515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1300"/>
              </a:lnSpc>
              <a:buFontTx/>
              <a:buNone/>
              <a:defRPr/>
            </a:pPr>
            <a:r>
              <a:rPr lang="ko-KR" sz="4800" b="0" i="0" strike="noStrike" spc="-190">
                <a:solidFill>
                  <a:srgbClr val="333333"/>
                </a:solidFill>
                <a:ea typeface="Pretendard Bold"/>
              </a:rPr>
              <a:t>정보구조설계</a:t>
            </a:r>
            <a:r>
              <a:rPr lang="en-US" sz="4800" b="0" i="0" strike="noStrike" spc="-19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strike="noStrike" spc="-190">
                <a:solidFill>
                  <a:srgbClr val="333333"/>
                </a:solidFill>
                <a:ea typeface="Pretendard Bold"/>
              </a:rPr>
              <a:t>및</a:t>
            </a:r>
            <a:r>
              <a:rPr lang="en-US" sz="4800" b="0" i="0" strike="noStrike" spc="-19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strike="noStrike" spc="-190">
                <a:solidFill>
                  <a:srgbClr val="333333"/>
                </a:solidFill>
                <a:ea typeface="Pretendard Bold"/>
              </a:rPr>
              <a:t>와이어프레임</a:t>
            </a:r>
            <a:r>
              <a:rPr lang="en-US" sz="4800" b="0" i="0" strike="noStrike" spc="-19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strike="noStrike" spc="-190">
                <a:solidFill>
                  <a:srgbClr val="333333"/>
                </a:solidFill>
                <a:ea typeface="Pretendard Bold"/>
              </a:rPr>
              <a:t>제작</a:t>
            </a:r>
            <a:r>
              <a:rPr lang="en-US" sz="4800" b="0" i="0" strike="noStrike" spc="-190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4800" b="0" i="0" strike="noStrike" spc="-190">
                <a:solidFill>
                  <a:srgbClr val="333333"/>
                </a:solidFill>
                <a:ea typeface="Pretendard Bold"/>
              </a:rPr>
              <a:t>의도</a:t>
            </a:r>
            <a:endParaRPr lang="ko-KR" altLang="en-US" sz="4800" b="0" i="0" strike="noStrike">
              <a:solidFill>
                <a:srgbClr val="333333"/>
              </a:solidFill>
              <a:ea typeface="Pretendard Bold"/>
            </a:endParaRPr>
          </a:p>
        </p:txBody>
      </p:sp>
      <p:sp>
        <p:nvSpPr>
          <p:cNvPr id="6" name="Rect 0"/>
          <p:cNvSpPr txBox="1"/>
          <p:nvPr/>
        </p:nvSpPr>
        <p:spPr>
          <a:xfrm>
            <a:off x="1727200" y="685800"/>
            <a:ext cx="7645400" cy="3181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02. </a:t>
            </a:r>
            <a:r>
              <a:rPr lang="ko-KR" sz="1800" b="0" i="0" strike="noStrike">
                <a:solidFill>
                  <a:srgbClr val="b7c5ca"/>
                </a:solidFill>
                <a:ea typeface="Pretendard Medium"/>
              </a:rPr>
              <a:t>정보구조설계</a:t>
            </a: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strike="noStrike">
                <a:solidFill>
                  <a:srgbClr val="b7c5ca"/>
                </a:solidFill>
                <a:ea typeface="Pretendard Medium"/>
              </a:rPr>
              <a:t>및</a:t>
            </a: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strike="noStrike">
                <a:solidFill>
                  <a:srgbClr val="b7c5ca"/>
                </a:solidFill>
                <a:ea typeface="Pretendard Medium"/>
              </a:rPr>
              <a:t>와이어프레임</a:t>
            </a: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strike="noStrike">
                <a:solidFill>
                  <a:srgbClr val="b7c5ca"/>
                </a:solidFill>
                <a:ea typeface="Pretendard Medium"/>
              </a:rPr>
              <a:t>페이지</a:t>
            </a: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strike="noStrike">
                <a:solidFill>
                  <a:srgbClr val="b7c5ca"/>
                </a:solidFill>
                <a:ea typeface="Pretendard Medium"/>
              </a:rPr>
              <a:t>설계한</a:t>
            </a: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strike="noStrike">
                <a:solidFill>
                  <a:srgbClr val="b7c5ca"/>
                </a:solidFill>
                <a:ea typeface="Pretendard Medium"/>
              </a:rPr>
              <a:t>의도는</a:t>
            </a: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 </a:t>
            </a:r>
            <a:r>
              <a:rPr lang="ko-KR" sz="1800" b="0" i="0" strike="noStrike">
                <a:solidFill>
                  <a:srgbClr val="b7c5ca"/>
                </a:solidFill>
                <a:ea typeface="Pretendard Medium"/>
              </a:rPr>
              <a:t>무엇인가</a:t>
            </a:r>
            <a:r>
              <a:rPr lang="en-US" sz="1800" b="0" i="0" strike="noStrike">
                <a:solidFill>
                  <a:srgbClr val="b7c5ca"/>
                </a:solidFill>
                <a:latin typeface="Pretendard Medium"/>
              </a:rPr>
              <a:t>.</a:t>
            </a:r>
            <a:endParaRPr lang="ko-KR" altLang="en-US" sz="1800" b="0" i="0" strike="noStrike">
              <a:solidFill>
                <a:srgbClr val="b7c5ca"/>
              </a:solidFill>
              <a:latin typeface="Pretendard Medium"/>
            </a:endParaRPr>
          </a:p>
        </p:txBody>
      </p:sp>
      <p:pic>
        <p:nvPicPr>
          <p:cNvPr id="7" name="Picture 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24000" y="2197100"/>
            <a:ext cx="7569835" cy="3670935"/>
          </a:xfrm>
          <a:prstGeom prst="rect">
            <a:avLst/>
          </a:prstGeom>
          <a:noFill/>
        </p:spPr>
      </p:pic>
      <p:pic>
        <p:nvPicPr>
          <p:cNvPr id="8" name="Picture 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36700" y="2197100"/>
            <a:ext cx="7569835" cy="1042035"/>
          </a:xfrm>
          <a:prstGeom prst="rect">
            <a:avLst/>
          </a:prstGeom>
          <a:noFill/>
        </p:spPr>
      </p:pic>
      <p:sp>
        <p:nvSpPr>
          <p:cNvPr id="9" name="Rect 0"/>
          <p:cNvSpPr txBox="1"/>
          <p:nvPr/>
        </p:nvSpPr>
        <p:spPr>
          <a:xfrm>
            <a:off x="2298700" y="2425700"/>
            <a:ext cx="4128135" cy="5721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ko-KR" sz="3200" b="0" i="0" strike="noStrike">
                <a:solidFill>
                  <a:srgbClr val="333333"/>
                </a:solidFill>
                <a:ea typeface="Pretendard Medium"/>
              </a:rPr>
              <a:t>정보구조설계</a:t>
            </a:r>
            <a:endParaRPr lang="ko-KR" altLang="en-US" sz="3200" b="0" i="0" strike="noStrike">
              <a:solidFill>
                <a:srgbClr val="333333"/>
              </a:solidFill>
              <a:ea typeface="Pretendard Medium"/>
            </a:endParaRPr>
          </a:p>
        </p:txBody>
      </p:sp>
      <p:sp>
        <p:nvSpPr>
          <p:cNvPr id="10" name="Rect 0"/>
          <p:cNvSpPr txBox="1"/>
          <p:nvPr/>
        </p:nvSpPr>
        <p:spPr>
          <a:xfrm>
            <a:off x="2070100" y="3924300"/>
            <a:ext cx="6579235" cy="12325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HEADER, CONTENTS, FOOTER 3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가지를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사용</a:t>
            </a:r>
            <a:endParaRPr lang="ko-KR" sz="22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HEADER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안에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NAVIGATION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을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추가</a:t>
            </a:r>
            <a:endParaRPr lang="ko-KR" sz="22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CONTENTS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안에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SECTION 3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가지를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나뉘었음</a:t>
            </a:r>
            <a:endParaRPr lang="ko-KR" altLang="en-US" sz="2200" b="0" i="0" strike="noStrike">
              <a:solidFill>
                <a:srgbClr val="333333"/>
              </a:solidFill>
              <a:ea typeface="Pretendard Light"/>
            </a:endParaRPr>
          </a:p>
        </p:txBody>
      </p:sp>
      <p:pic>
        <p:nvPicPr>
          <p:cNvPr id="12" name="Picture 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70000" y="2413000"/>
            <a:ext cx="622935" cy="622935"/>
          </a:xfrm>
          <a:prstGeom prst="rect">
            <a:avLst/>
          </a:prstGeom>
          <a:noFill/>
        </p:spPr>
      </p:pic>
      <p:sp>
        <p:nvSpPr>
          <p:cNvPr id="13" name="Rect 0"/>
          <p:cNvSpPr txBox="1"/>
          <p:nvPr/>
        </p:nvSpPr>
        <p:spPr>
          <a:xfrm>
            <a:off x="1231900" y="2489200"/>
            <a:ext cx="686435" cy="4197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  <a:defRPr/>
            </a:pPr>
            <a:r>
              <a:rPr lang="en-US" sz="2400" b="0" i="0" strike="noStrike">
                <a:solidFill>
                  <a:srgbClr val="333333"/>
                </a:solidFill>
                <a:latin typeface="Pretendard Bold"/>
              </a:rPr>
              <a:t>01</a:t>
            </a:r>
            <a:endParaRPr lang="ko-KR" altLang="en-US" sz="2400" b="0" i="0" strike="noStrike">
              <a:solidFill>
                <a:srgbClr val="333333"/>
              </a:solidFill>
              <a:latin typeface="Pretendard Bold"/>
            </a:endParaRPr>
          </a:p>
        </p:txBody>
      </p:sp>
      <p:pic>
        <p:nvPicPr>
          <p:cNvPr id="14" name="Picture 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24000" y="6299200"/>
            <a:ext cx="7569835" cy="3670935"/>
          </a:xfrm>
          <a:prstGeom prst="rect">
            <a:avLst/>
          </a:prstGeom>
          <a:noFill/>
        </p:spPr>
      </p:pic>
      <p:pic>
        <p:nvPicPr>
          <p:cNvPr id="15" name="Picture 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536700" y="6299200"/>
            <a:ext cx="7569835" cy="1042035"/>
          </a:xfrm>
          <a:prstGeom prst="rect">
            <a:avLst/>
          </a:prstGeom>
          <a:noFill/>
        </p:spPr>
      </p:pic>
      <p:pic>
        <p:nvPicPr>
          <p:cNvPr id="16" name="Picture 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6916400" y="0"/>
            <a:ext cx="1372235" cy="1410335"/>
          </a:xfrm>
          <a:prstGeom prst="rect">
            <a:avLst/>
          </a:prstGeom>
          <a:noFill/>
        </p:spPr>
      </p:pic>
      <p:sp>
        <p:nvSpPr>
          <p:cNvPr id="17" name="Rect 0"/>
          <p:cNvSpPr txBox="1"/>
          <p:nvPr/>
        </p:nvSpPr>
        <p:spPr>
          <a:xfrm>
            <a:off x="2298700" y="6527800"/>
            <a:ext cx="4128135" cy="5721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en-US" sz="3200" b="0" i="0" strike="noStrike">
                <a:solidFill>
                  <a:srgbClr val="333333"/>
                </a:solidFill>
                <a:latin typeface="Pretendard Medium"/>
              </a:rPr>
              <a:t>INDEX </a:t>
            </a:r>
            <a:r>
              <a:rPr lang="ko-KR" sz="3200" b="0" i="0" strike="noStrike">
                <a:solidFill>
                  <a:srgbClr val="333333"/>
                </a:solidFill>
                <a:ea typeface="Pretendard Medium"/>
              </a:rPr>
              <a:t>및</a:t>
            </a:r>
            <a:r>
              <a:rPr lang="en-US" sz="3200" b="0" i="0" strike="noStrike">
                <a:solidFill>
                  <a:srgbClr val="333333"/>
                </a:solidFill>
                <a:latin typeface="Pretendard Medium"/>
              </a:rPr>
              <a:t> </a:t>
            </a:r>
            <a:r>
              <a:rPr lang="ko-KR" sz="3200" b="0" i="0" strike="noStrike">
                <a:solidFill>
                  <a:srgbClr val="333333"/>
                </a:solidFill>
                <a:ea typeface="Pretendard Medium"/>
              </a:rPr>
              <a:t>내비게이션</a:t>
            </a:r>
            <a:endParaRPr lang="ko-KR" altLang="en-US" sz="3200" b="0" i="0" strike="noStrike">
              <a:solidFill>
                <a:srgbClr val="333333"/>
              </a:solidFill>
              <a:ea typeface="Pretendard Medium"/>
            </a:endParaRPr>
          </a:p>
        </p:txBody>
      </p:sp>
      <p:sp>
        <p:nvSpPr>
          <p:cNvPr id="18" name="Rect 0"/>
          <p:cNvSpPr txBox="1"/>
          <p:nvPr/>
        </p:nvSpPr>
        <p:spPr>
          <a:xfrm>
            <a:off x="2070100" y="7353300"/>
            <a:ext cx="6566535" cy="25660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로그인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전 /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페이지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마이페이지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프로필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프로필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수정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보관함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스토어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게임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카테고리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게임정보창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구매창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랭킹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 </a:t>
            </a:r>
            <a:endParaRPr lang="en-US" sz="1700" b="0" i="0" strike="noStrike">
              <a:solidFill>
                <a:srgbClr val="333333"/>
              </a:solidFill>
              <a:latin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커뮤니티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뉴스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(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새로운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소식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),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리뷰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고객센터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- QNA,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공지사항</a:t>
            </a:r>
            <a:endParaRPr lang="ko-KR" sz="17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브랜드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1700" b="0" i="0" strike="noStrike">
                <a:solidFill>
                  <a:srgbClr val="333333"/>
                </a:solidFill>
                <a:ea typeface="Pretendard Light"/>
              </a:rPr>
              <a:t>소개</a:t>
            </a:r>
            <a:r>
              <a:rPr lang="en-US" sz="1700" b="0" i="0" strike="noStrike">
                <a:solidFill>
                  <a:srgbClr val="333333"/>
                </a:solidFill>
                <a:latin typeface="Pretendard Light"/>
              </a:rPr>
              <a:t> </a:t>
            </a:r>
            <a:endParaRPr lang="ko-KR" altLang="en-US" sz="1700" b="0" i="0" strike="noStrike">
              <a:solidFill>
                <a:srgbClr val="333333"/>
              </a:solidFill>
              <a:latin typeface="Pretendard Light"/>
            </a:endParaRPr>
          </a:p>
        </p:txBody>
      </p:sp>
      <p:pic>
        <p:nvPicPr>
          <p:cNvPr id="20" name="Picture 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1270000" y="6515100"/>
            <a:ext cx="622935" cy="622935"/>
          </a:xfrm>
          <a:prstGeom prst="rect">
            <a:avLst/>
          </a:prstGeom>
          <a:noFill/>
        </p:spPr>
      </p:pic>
      <p:sp>
        <p:nvSpPr>
          <p:cNvPr id="21" name="Rect 0"/>
          <p:cNvSpPr txBox="1"/>
          <p:nvPr/>
        </p:nvSpPr>
        <p:spPr>
          <a:xfrm>
            <a:off x="1219200" y="6591300"/>
            <a:ext cx="686435" cy="4197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  <a:defRPr/>
            </a:pPr>
            <a:r>
              <a:rPr lang="en-US" sz="2400" b="0" i="0" strike="noStrike">
                <a:solidFill>
                  <a:srgbClr val="333333"/>
                </a:solidFill>
                <a:latin typeface="Pretendard Bold"/>
              </a:rPr>
              <a:t>02</a:t>
            </a:r>
            <a:endParaRPr lang="ko-KR" altLang="en-US" sz="2400" b="0" i="0" strike="noStrike">
              <a:solidFill>
                <a:srgbClr val="333333"/>
              </a:solidFill>
              <a:latin typeface="Pretendard Bold"/>
            </a:endParaRPr>
          </a:p>
        </p:txBody>
      </p:sp>
      <p:pic>
        <p:nvPicPr>
          <p:cNvPr id="22" name="Picture 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918700" y="4076700"/>
            <a:ext cx="7569835" cy="3670935"/>
          </a:xfrm>
          <a:prstGeom prst="rect">
            <a:avLst/>
          </a:prstGeom>
          <a:noFill/>
        </p:spPr>
      </p:pic>
      <p:pic>
        <p:nvPicPr>
          <p:cNvPr id="23" name="Picture 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9918700" y="4076700"/>
            <a:ext cx="7569835" cy="1042035"/>
          </a:xfrm>
          <a:prstGeom prst="rect">
            <a:avLst/>
          </a:prstGeom>
          <a:noFill/>
        </p:spPr>
      </p:pic>
      <p:sp>
        <p:nvSpPr>
          <p:cNvPr id="24" name="Rect 0"/>
          <p:cNvSpPr txBox="1"/>
          <p:nvPr/>
        </p:nvSpPr>
        <p:spPr>
          <a:xfrm>
            <a:off x="10693400" y="4305300"/>
            <a:ext cx="4128135" cy="5721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l">
              <a:lnSpc>
                <a:spcPct val="99600"/>
              </a:lnSpc>
              <a:buFontTx/>
              <a:buNone/>
              <a:defRPr/>
            </a:pPr>
            <a:r>
              <a:rPr lang="ko-KR" sz="3200" b="0" i="0" strike="noStrike">
                <a:solidFill>
                  <a:srgbClr val="333333"/>
                </a:solidFill>
                <a:ea typeface="Pretendard Medium"/>
              </a:rPr>
              <a:t>와이어프레임</a:t>
            </a:r>
            <a:endParaRPr lang="ko-KR" altLang="en-US" sz="3200" b="0" i="0" strike="noStrike">
              <a:solidFill>
                <a:srgbClr val="333333"/>
              </a:solidFill>
              <a:ea typeface="Pretendard Medium"/>
            </a:endParaRPr>
          </a:p>
        </p:txBody>
      </p:sp>
      <p:pic>
        <p:nvPicPr>
          <p:cNvPr id="26" name="Picture 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664700" y="4292600"/>
            <a:ext cx="622935" cy="622935"/>
          </a:xfrm>
          <a:prstGeom prst="rect">
            <a:avLst/>
          </a:prstGeom>
          <a:noFill/>
        </p:spPr>
      </p:pic>
      <p:sp>
        <p:nvSpPr>
          <p:cNvPr id="27" name="Rect 0"/>
          <p:cNvSpPr txBox="1"/>
          <p:nvPr/>
        </p:nvSpPr>
        <p:spPr>
          <a:xfrm>
            <a:off x="9613900" y="4381500"/>
            <a:ext cx="686435" cy="4324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0" indent="0" algn="ctr">
              <a:lnSpc>
                <a:spcPct val="99600"/>
              </a:lnSpc>
              <a:buFontTx/>
              <a:buNone/>
              <a:defRPr/>
            </a:pPr>
            <a:r>
              <a:rPr lang="en-US" sz="2400" b="0" i="0" strike="noStrike">
                <a:solidFill>
                  <a:srgbClr val="333333"/>
                </a:solidFill>
                <a:latin typeface="Pretendard Bold"/>
              </a:rPr>
              <a:t>03</a:t>
            </a:r>
            <a:endParaRPr lang="ko-KR" altLang="en-US" sz="2400" b="0" i="0" strike="noStrike">
              <a:solidFill>
                <a:srgbClr val="333333"/>
              </a:solidFill>
              <a:latin typeface="Pretendard Bold"/>
            </a:endParaRPr>
          </a:p>
        </p:txBody>
      </p:sp>
      <p:sp>
        <p:nvSpPr>
          <p:cNvPr id="28" name="Rect 0"/>
          <p:cNvSpPr txBox="1"/>
          <p:nvPr/>
        </p:nvSpPr>
        <p:spPr>
          <a:xfrm>
            <a:off x="10515600" y="5854700"/>
            <a:ext cx="6579235" cy="1232535"/>
          </a:xfrm>
          <a:prstGeom prst="rect">
            <a:avLst/>
          </a:prstGeom>
        </p:spPr>
        <p:txBody>
          <a:bodyPr vert="horz" wrap="square" lIns="0" tIns="0" rIns="0" bIns="0" anchor="ctr">
            <a:noAutofit/>
          </a:bodyPr>
          <a:lstStyle/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불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필요한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글로벌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과감히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삭제</a:t>
            </a:r>
            <a:endParaRPr lang="ko-KR" sz="22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'FIGMA'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를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통해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타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게임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사이트들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벤치마킹</a:t>
            </a:r>
            <a:endParaRPr lang="ko-KR" sz="2200" b="0" i="0" strike="noStrike">
              <a:solidFill>
                <a:srgbClr val="333333"/>
              </a:solidFill>
              <a:ea typeface="Pretendard Light"/>
            </a:endParaRPr>
          </a:p>
          <a:p>
            <a:pPr marL="342900" indent="-342900" algn="l">
              <a:lnSpc>
                <a:spcPct val="124499"/>
              </a:lnSpc>
              <a:buClr>
                <a:srgbClr val="333333"/>
              </a:buClr>
              <a:buFont typeface="Arial"/>
              <a:buChar char="●"/>
              <a:defRPr/>
            </a:pP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메인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및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서브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메뉴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당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각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10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개씩</a:t>
            </a:r>
            <a:r>
              <a:rPr lang="en-US" sz="2200" b="0" i="0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0" i="0" strike="noStrike">
                <a:solidFill>
                  <a:srgbClr val="333333"/>
                </a:solidFill>
                <a:ea typeface="Pretendard Light"/>
              </a:rPr>
              <a:t>벤치마킹</a:t>
            </a:r>
            <a:endParaRPr lang="ko-KR" altLang="en-US" sz="2200" b="0" i="0" strike="noStrike">
              <a:solidFill>
                <a:srgbClr val="333333"/>
              </a:solidFill>
              <a:ea typeface="Pretendard 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592</ep:Words>
  <ep:PresentationFormat/>
  <ep:Paragraphs>147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pc02-00</cp:lastModifiedBy>
  <dcterms:modified xsi:type="dcterms:W3CDTF">2025-05-28T01:52:37.836</dcterms:modified>
  <cp:revision>5</cp:revision>
  <cp:version>10.105.277.55893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